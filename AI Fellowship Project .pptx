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68" r:id="rId3"/>
    <p:sldId id="257" r:id="rId5"/>
    <p:sldId id="258" r:id="rId6"/>
    <p:sldId id="259" r:id="rId7"/>
    <p:sldId id="260" r:id="rId8"/>
    <p:sldId id="261" r:id="rId9"/>
    <p:sldId id="262" r:id="rId10"/>
    <p:sldId id="263" r:id="rId11"/>
    <p:sldId id="264" r:id="rId12"/>
    <p:sldId id="265" r:id="rId13"/>
    <p:sldId id="266" r:id="rId14"/>
  </p:sldIdLst>
  <p:sldSz cx="9144000" cy="5143500" type="screen16x9"/>
  <p:notesSz cx="5143500" cy="9144000"/>
  <p:custDataLst>
    <p:tags r:id="rId18"/>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82" userDrawn="1">
          <p15:clr>
            <a:srgbClr val="A4A3A4"/>
          </p15:clr>
        </p15:guide>
        <p15:guide id="2" orient="horz" pos="862" userDrawn="1">
          <p15:clr>
            <a:srgbClr val="A4A3A4"/>
          </p15:clr>
        </p15:guide>
        <p15:guide id="3" pos="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showGuides="1">
      <p:cViewPr varScale="1">
        <p:scale>
          <a:sx n="110" d="100"/>
          <a:sy n="110" d="100"/>
        </p:scale>
        <p:origin x="72" y="67"/>
      </p:cViewPr>
      <p:guideLst>
        <p:guide orient="horz" pos="682"/>
        <p:guide orient="horz" pos="862"/>
        <p:guide pos="8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gs" Target="tags/tag29.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tags" Target="../tags/tag1.xml"/><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p:cNvGrpSpPr/>
          <p:nvPr userDrawn="1"/>
        </p:nvGrpSpPr>
        <p:grpSpPr>
          <a:xfrm flipH="1">
            <a:off x="0" y="5036127"/>
            <a:ext cx="9144000" cy="107373"/>
            <a:chOff x="0" y="0"/>
            <a:chExt cx="4402382" cy="66464"/>
          </a:xfrm>
        </p:grpSpPr>
        <p:sp>
          <p:nvSpPr>
            <p:cNvPr id="3" name="Freeform 9"/>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p:cNvSpPr txBox="1"/>
            <p:nvPr/>
          </p:nvSpPr>
          <p:spPr>
            <a:xfrm>
              <a:off x="0" y="-38100"/>
              <a:ext cx="4402382" cy="104564"/>
            </a:xfrm>
            <a:prstGeom prst="rect">
              <a:avLst/>
            </a:prstGeom>
          </p:spPr>
          <p:txBody>
            <a:bodyPr lIns="50800" tIns="50800" rIns="50800" bIns="50800" rtlCol="0" anchor="ctr"/>
            <a:lstStyle/>
            <a:p>
              <a:pPr algn="ctr">
                <a:lnSpc>
                  <a:spcPts val="2660"/>
                </a:lnSpc>
              </a:pPr>
            </a:p>
          </p:txBody>
        </p:sp>
      </p:grpSp>
      <p:grpSp>
        <p:nvGrpSpPr>
          <p:cNvPr id="5" name="Group 8"/>
          <p:cNvGrpSpPr/>
          <p:nvPr userDrawn="1"/>
        </p:nvGrpSpPr>
        <p:grpSpPr>
          <a:xfrm>
            <a:off x="0" y="0"/>
            <a:ext cx="9144000" cy="424206"/>
            <a:chOff x="0" y="0"/>
            <a:chExt cx="4402382" cy="66464"/>
          </a:xfrm>
        </p:grpSpPr>
        <p:sp>
          <p:nvSpPr>
            <p:cNvPr id="6" name="Freeform 9"/>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p:cNvSpPr txBox="1"/>
            <p:nvPr/>
          </p:nvSpPr>
          <p:spPr>
            <a:xfrm>
              <a:off x="0" y="-38100"/>
              <a:ext cx="4402382" cy="104564"/>
            </a:xfrm>
            <a:prstGeom prst="rect">
              <a:avLst/>
            </a:prstGeom>
          </p:spPr>
          <p:txBody>
            <a:bodyPr lIns="50800" tIns="50800" rIns="50800" bIns="50800" rtlCol="0" anchor="ctr"/>
            <a:lstStyle/>
            <a:p>
              <a:pPr algn="ctr">
                <a:lnSpc>
                  <a:spcPts val="2660"/>
                </a:lnSpc>
              </a:pPr>
            </a:p>
          </p:txBody>
        </p:sp>
      </p:grpSp>
      <p:pic>
        <p:nvPicPr>
          <p:cNvPr id="8" name="Picture 7" descr="A black and white logo&#10;&#10;AI-generated content may be incorrect."/>
          <p:cNvPicPr>
            <a:picLocks noChangeAspect="1"/>
          </p:cNvPicPr>
          <p:nvPr userDrawn="1"/>
        </p:nvPicPr>
        <p:blipFill>
          <a:blip r:embed="rId3"/>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2.xml"/><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svg"/><Relationship Id="rId10" Type="http://schemas.openxmlformats.org/officeDocument/2006/relationships/notesSlide" Target="../notesSlides/notesSlide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image" Target="../media/image9.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tags" Target="../tags/tag4.xml"/><Relationship Id="rId2" Type="http://schemas.openxmlformats.org/officeDocument/2006/relationships/image" Target="../media/image11.svg"/><Relationship Id="rId1" Type="http://schemas.openxmlformats.org/officeDocument/2006/relationships/image" Target="../media/image10.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tags" Target="../tags/tag5.xml"/><Relationship Id="rId1" Type="http://schemas.openxmlformats.org/officeDocument/2006/relationships/image" Target="../media/image1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tags" Target="../tags/tag6.xml"/><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9" Type="http://schemas.openxmlformats.org/officeDocument/2006/relationships/notesSlide" Target="../notesSlides/notesSlide6.xml"/><Relationship Id="rId18" Type="http://schemas.openxmlformats.org/officeDocument/2006/relationships/slideLayout" Target="../slideLayouts/slideLayout1.xml"/><Relationship Id="rId17" Type="http://schemas.openxmlformats.org/officeDocument/2006/relationships/tags" Target="../tags/tag23.xml"/><Relationship Id="rId16" Type="http://schemas.openxmlformats.org/officeDocument/2006/relationships/tags" Target="../tags/tag22.xml"/><Relationship Id="rId15" Type="http://schemas.openxmlformats.org/officeDocument/2006/relationships/tags" Target="../tags/tag21.xml"/><Relationship Id="rId14" Type="http://schemas.openxmlformats.org/officeDocument/2006/relationships/tags" Target="../tags/tag20.xml"/><Relationship Id="rId13" Type="http://schemas.openxmlformats.org/officeDocument/2006/relationships/tags" Target="../tags/tag19.xml"/><Relationship Id="rId12" Type="http://schemas.openxmlformats.org/officeDocument/2006/relationships/tags" Target="../tags/tag1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2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25.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tags" Target="../tags/tag26.xml"/><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tags" Target="../tags/tag27.xml"/><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Rounded Corners 74"/>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p:cNvGrpSpPr/>
          <p:nvPr/>
        </p:nvGrpSpPr>
        <p:grpSpPr>
          <a:xfrm>
            <a:off x="0" y="0"/>
            <a:ext cx="4153368" cy="126178"/>
            <a:chOff x="0" y="0"/>
            <a:chExt cx="2187782" cy="66464"/>
          </a:xfrm>
        </p:grpSpPr>
        <p:sp>
          <p:nvSpPr>
            <p:cNvPr id="3" name="Freeform 3"/>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p:cNvGrpSpPr/>
          <p:nvPr/>
        </p:nvGrpSpPr>
        <p:grpSpPr>
          <a:xfrm>
            <a:off x="0" y="5017322"/>
            <a:ext cx="7571294" cy="126178"/>
            <a:chOff x="0" y="0"/>
            <a:chExt cx="3988171" cy="66464"/>
          </a:xfrm>
        </p:grpSpPr>
        <p:sp>
          <p:nvSpPr>
            <p:cNvPr id="6" name="Freeform 6"/>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p:cNvGrpSpPr/>
          <p:nvPr/>
        </p:nvGrpSpPr>
        <p:grpSpPr>
          <a:xfrm rot="2700000">
            <a:off x="3661769" y="-528997"/>
            <a:ext cx="4602320" cy="2123257"/>
            <a:chOff x="0" y="0"/>
            <a:chExt cx="2424267" cy="1118423"/>
          </a:xfrm>
        </p:grpSpPr>
        <p:sp>
          <p:nvSpPr>
            <p:cNvPr id="9" name="Freeform 9"/>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p:cNvGrpSpPr/>
          <p:nvPr/>
        </p:nvGrpSpPr>
        <p:grpSpPr>
          <a:xfrm rot="2700000">
            <a:off x="5632358" y="303921"/>
            <a:ext cx="3724082" cy="1064394"/>
            <a:chOff x="0" y="0"/>
            <a:chExt cx="1961656" cy="560668"/>
          </a:xfrm>
        </p:grpSpPr>
        <p:sp>
          <p:nvSpPr>
            <p:cNvPr id="12" name="Freeform 12"/>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p:cNvGrpSpPr/>
          <p:nvPr/>
        </p:nvGrpSpPr>
        <p:grpSpPr>
          <a:xfrm rot="2700000">
            <a:off x="7528217" y="-892816"/>
            <a:ext cx="2873959" cy="1967021"/>
            <a:chOff x="0" y="0"/>
            <a:chExt cx="1513855" cy="1036126"/>
          </a:xfrm>
        </p:grpSpPr>
        <p:sp>
          <p:nvSpPr>
            <p:cNvPr id="15" name="Freeform 15"/>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p:cNvGrpSpPr/>
          <p:nvPr/>
        </p:nvGrpSpPr>
        <p:grpSpPr>
          <a:xfrm rot="2700000">
            <a:off x="6756840" y="4003698"/>
            <a:ext cx="4602320" cy="2123257"/>
            <a:chOff x="0" y="0"/>
            <a:chExt cx="2424267" cy="1118423"/>
          </a:xfrm>
        </p:grpSpPr>
        <p:sp>
          <p:nvSpPr>
            <p:cNvPr id="18" name="Freeform 18"/>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p:cNvGrpSpPr/>
          <p:nvPr/>
        </p:nvGrpSpPr>
        <p:grpSpPr>
          <a:xfrm rot="2700000">
            <a:off x="7842195" y="3672519"/>
            <a:ext cx="2166949" cy="1126189"/>
            <a:chOff x="0" y="0"/>
            <a:chExt cx="1141438" cy="593219"/>
          </a:xfrm>
        </p:grpSpPr>
        <p:sp>
          <p:nvSpPr>
            <p:cNvPr id="21" name="Freeform 21"/>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p:cNvGrpSpPr/>
          <p:nvPr/>
        </p:nvGrpSpPr>
        <p:grpSpPr>
          <a:xfrm>
            <a:off x="5720497" y="768985"/>
            <a:ext cx="3475712" cy="3475712"/>
            <a:chOff x="0" y="0"/>
            <a:chExt cx="812800" cy="812800"/>
          </a:xfrm>
        </p:grpSpPr>
        <p:sp>
          <p:nvSpPr>
            <p:cNvPr id="24" name="Freeform 24"/>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IN" sz="700"/>
          </a:p>
        </p:txBody>
      </p:sp>
      <p:sp>
        <p:nvSpPr>
          <p:cNvPr id="35" name="Freeform 35"/>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IN" sz="700"/>
          </a:p>
        </p:txBody>
      </p:sp>
      <p:sp>
        <p:nvSpPr>
          <p:cNvPr id="36" name="Freeform 36"/>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IN" sz="700"/>
          </a:p>
        </p:txBody>
      </p:sp>
      <p:grpSp>
        <p:nvGrpSpPr>
          <p:cNvPr id="47" name="Group 46"/>
          <p:cNvGrpSpPr/>
          <p:nvPr/>
        </p:nvGrpSpPr>
        <p:grpSpPr>
          <a:xfrm>
            <a:off x="-19007" y="2928677"/>
            <a:ext cx="4276134" cy="431080"/>
            <a:chOff x="0" y="2985846"/>
            <a:chExt cx="4276134" cy="431080"/>
          </a:xfrm>
        </p:grpSpPr>
        <p:grpSp>
          <p:nvGrpSpPr>
            <p:cNvPr id="28" name="Group 28"/>
            <p:cNvGrpSpPr/>
            <p:nvPr/>
          </p:nvGrpSpPr>
          <p:grpSpPr>
            <a:xfrm>
              <a:off x="0" y="2985846"/>
              <a:ext cx="4224335" cy="431080"/>
              <a:chOff x="0" y="-38100"/>
              <a:chExt cx="4355842" cy="444500"/>
            </a:xfrm>
          </p:grpSpPr>
          <p:sp>
            <p:nvSpPr>
              <p:cNvPr id="29" name="Freeform 29"/>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p:cNvSpPr txBox="1"/>
            <p:nvPr/>
          </p:nvSpPr>
          <p:spPr>
            <a:xfrm>
              <a:off x="466725" y="3100839"/>
              <a:ext cx="3809409" cy="223587"/>
            </a:xfrm>
            <a:prstGeom prst="rect">
              <a:avLst/>
            </a:prstGeom>
          </p:spPr>
          <p:txBody>
            <a:bodyPr lIns="0" tIns="0" rIns="0" bIns="0" rtlCol="0" anchor="t">
              <a:spAutoFit/>
            </a:bodyPr>
            <a:lstStyle/>
            <a:p>
              <a:pPr>
                <a:lnSpc>
                  <a:spcPts val="1945"/>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endParaRPr lang="en-US" sz="1400" b="1" spc="583" dirty="0">
                <a:solidFill>
                  <a:srgbClr val="FFFFFF"/>
                </a:solidFill>
                <a:latin typeface="Arial" panose="020B0604020202020204" pitchFamily="34" charset="0"/>
                <a:ea typeface="Aileron Bold"/>
                <a:cs typeface="Arial" panose="020B0604020202020204" pitchFamily="34" charset="0"/>
                <a:sym typeface="Aileron Bold"/>
              </a:endParaRPr>
            </a:p>
          </p:txBody>
        </p:sp>
      </p:grpSp>
      <p:sp>
        <p:nvSpPr>
          <p:cNvPr id="40" name="TextBox 40"/>
          <p:cNvSpPr txBox="1"/>
          <p:nvPr/>
        </p:nvSpPr>
        <p:spPr>
          <a:xfrm>
            <a:off x="2302781" y="4344678"/>
            <a:ext cx="1633432" cy="154209"/>
          </a:xfrm>
          <a:prstGeom prst="rect">
            <a:avLst/>
          </a:prstGeom>
        </p:spPr>
        <p:txBody>
          <a:bodyPr lIns="0" tIns="0" rIns="0" bIns="0" rtlCol="0" anchor="t">
            <a:spAutoFit/>
          </a:bodyPr>
          <a:lstStyle/>
          <a:p>
            <a:pPr>
              <a:lnSpc>
                <a:spcPts val="1295"/>
              </a:lnSpc>
            </a:pPr>
            <a:r>
              <a:rPr lang="en-US" sz="1000" dirty="0">
                <a:latin typeface="Arial" panose="020B0604020202020204" pitchFamily="34" charset="0"/>
                <a:ea typeface="Aileron"/>
                <a:cs typeface="Arial" panose="020B0604020202020204" pitchFamily="34" charset="0"/>
                <a:sym typeface="Aileron"/>
              </a:rPr>
              <a:t>Student Name</a:t>
            </a:r>
            <a:endParaRPr lang="en-US" sz="1000" dirty="0">
              <a:latin typeface="Arial" panose="020B0604020202020204" pitchFamily="34" charset="0"/>
              <a:ea typeface="Aileron"/>
              <a:cs typeface="Arial" panose="020B0604020202020204" pitchFamily="34" charset="0"/>
              <a:sym typeface="Aileron"/>
            </a:endParaRPr>
          </a:p>
        </p:txBody>
      </p:sp>
      <p:sp>
        <p:nvSpPr>
          <p:cNvPr id="42" name="TextBox 42"/>
          <p:cNvSpPr txBox="1"/>
          <p:nvPr/>
        </p:nvSpPr>
        <p:spPr>
          <a:xfrm>
            <a:off x="2302779" y="4471625"/>
            <a:ext cx="1633432" cy="260985"/>
          </a:xfrm>
          <a:prstGeom prst="rect">
            <a:avLst/>
          </a:prstGeom>
        </p:spPr>
        <p:txBody>
          <a:bodyPr lIns="0" tIns="0" rIns="0" bIns="0" rtlCol="0" anchor="t">
            <a:spAutoFit/>
          </a:bodyPr>
          <a:lstStyle/>
          <a:p>
            <a:pPr>
              <a:lnSpc>
                <a:spcPts val="2040"/>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Dr. Sabrina Dsouza</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0" name="Picture 49" descr="A blue circle with a person and a envelope in it&#10;&#10;AI-generated content may be incorrect."/>
          <p:cNvPicPr>
            <a:picLocks noChangeAspect="1"/>
          </p:cNvPicPr>
          <p:nvPr/>
        </p:nvPicPr>
        <p:blipFill>
          <a:blip r:embed="rId3"/>
          <a:srcRect l="26757" t="2453" r="27842" b="53701"/>
          <a:stretch>
            <a:fillRect/>
          </a:stretch>
        </p:blipFill>
        <p:spPr>
          <a:xfrm>
            <a:off x="1879018" y="4336133"/>
            <a:ext cx="395331" cy="381795"/>
          </a:xfrm>
          <a:prstGeom prst="rect">
            <a:avLst/>
          </a:prstGeom>
        </p:spPr>
      </p:pic>
      <p:sp>
        <p:nvSpPr>
          <p:cNvPr id="41" name="TextBox 41"/>
          <p:cNvSpPr txBox="1"/>
          <p:nvPr/>
        </p:nvSpPr>
        <p:spPr>
          <a:xfrm>
            <a:off x="4153469" y="4274457"/>
            <a:ext cx="1809978" cy="154209"/>
          </a:xfrm>
          <a:prstGeom prst="rect">
            <a:avLst/>
          </a:prstGeom>
        </p:spPr>
        <p:txBody>
          <a:bodyPr lIns="0" tIns="0" rIns="0" bIns="0" rtlCol="0" anchor="t">
            <a:spAutoFit/>
          </a:bodyPr>
          <a:lstStyle/>
          <a:p>
            <a:pPr>
              <a:lnSpc>
                <a:spcPts val="1295"/>
              </a:lnSpc>
            </a:pPr>
            <a:r>
              <a:rPr lang="en-US" sz="1000" dirty="0">
                <a:latin typeface="Arial" panose="020B0604020202020204" pitchFamily="34" charset="0"/>
                <a:ea typeface="Aileron"/>
                <a:cs typeface="Arial" panose="020B0604020202020204" pitchFamily="34" charset="0"/>
                <a:sym typeface="Aileron"/>
              </a:rPr>
              <a:t>Student Email</a:t>
            </a:r>
            <a:endParaRPr lang="en-US" sz="1000" dirty="0">
              <a:latin typeface="Arial" panose="020B0604020202020204" pitchFamily="34" charset="0"/>
              <a:ea typeface="Aileron"/>
              <a:cs typeface="Arial" panose="020B0604020202020204" pitchFamily="34" charset="0"/>
              <a:sym typeface="Aileron"/>
            </a:endParaRPr>
          </a:p>
        </p:txBody>
      </p:sp>
      <p:sp>
        <p:nvSpPr>
          <p:cNvPr id="43" name="TextBox 43"/>
          <p:cNvSpPr txBox="1"/>
          <p:nvPr/>
        </p:nvSpPr>
        <p:spPr>
          <a:xfrm>
            <a:off x="4171708" y="4413410"/>
            <a:ext cx="2272871" cy="260985"/>
          </a:xfrm>
          <a:prstGeom prst="rect">
            <a:avLst/>
          </a:prstGeom>
        </p:spPr>
        <p:txBody>
          <a:bodyPr lIns="0" tIns="0" rIns="0" bIns="0" rtlCol="0" anchor="t">
            <a:spAutoFit/>
          </a:bodyPr>
          <a:lstStyle/>
          <a:p>
            <a:pPr>
              <a:lnSpc>
                <a:spcPts val="2040"/>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drsabrinadsouza@gmail.com</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1" name="Picture 50" descr="A blue circle with a person and a envelope in it&#10;&#10;AI-generated content may be incorrect."/>
          <p:cNvPicPr>
            <a:picLocks noChangeAspect="1"/>
          </p:cNvPicPr>
          <p:nvPr/>
        </p:nvPicPr>
        <p:blipFill>
          <a:blip r:embed="rId3"/>
          <a:srcRect l="26859" t="52379" r="26874" b="2349"/>
          <a:stretch>
            <a:fillRect/>
          </a:stretch>
        </p:blipFill>
        <p:spPr>
          <a:xfrm>
            <a:off x="3629343" y="4303808"/>
            <a:ext cx="398279" cy="389719"/>
          </a:xfrm>
          <a:prstGeom prst="rect">
            <a:avLst/>
          </a:prstGeom>
        </p:spPr>
      </p:pic>
      <p:grpSp>
        <p:nvGrpSpPr>
          <p:cNvPr id="66" name="Group 65"/>
          <p:cNvGrpSpPr/>
          <p:nvPr/>
        </p:nvGrpSpPr>
        <p:grpSpPr>
          <a:xfrm>
            <a:off x="830614" y="4309136"/>
            <a:ext cx="1839823" cy="399415"/>
            <a:chOff x="3109854" y="4295282"/>
            <a:chExt cx="1839823" cy="399415"/>
          </a:xfrm>
        </p:grpSpPr>
        <p:sp>
          <p:nvSpPr>
            <p:cNvPr id="67" name="TextBox 41"/>
            <p:cNvSpPr txBox="1"/>
            <p:nvPr/>
          </p:nvSpPr>
          <p:spPr>
            <a:xfrm>
              <a:off x="3139699" y="4295282"/>
              <a:ext cx="1809978" cy="158890"/>
            </a:xfrm>
            <a:prstGeom prst="rect">
              <a:avLst/>
            </a:prstGeom>
          </p:spPr>
          <p:txBody>
            <a:bodyPr lIns="0" tIns="0" rIns="0" bIns="0" rtlCol="0" anchor="t">
              <a:spAutoFit/>
            </a:bodyPr>
            <a:lstStyle/>
            <a:p>
              <a:pPr>
                <a:lnSpc>
                  <a:spcPts val="1295"/>
                </a:lnSpc>
              </a:pPr>
              <a:r>
                <a:rPr lang="en-US" sz="1000" dirty="0">
                  <a:latin typeface="Arial" panose="020B0604020202020204" pitchFamily="34" charset="0"/>
                  <a:ea typeface="Aileron"/>
                  <a:cs typeface="Arial" panose="020B0604020202020204" pitchFamily="34" charset="0"/>
                  <a:sym typeface="Aileron"/>
                </a:rPr>
                <a:t>Mentor Name</a:t>
              </a:r>
              <a:endParaRPr lang="en-US" sz="1000" dirty="0">
                <a:latin typeface="Arial" panose="020B0604020202020204" pitchFamily="34" charset="0"/>
                <a:ea typeface="Aileron"/>
                <a:cs typeface="Arial" panose="020B0604020202020204" pitchFamily="34" charset="0"/>
                <a:sym typeface="Aileron"/>
              </a:endParaRPr>
            </a:p>
          </p:txBody>
        </p:sp>
        <p:sp>
          <p:nvSpPr>
            <p:cNvPr id="68" name="TextBox 43"/>
            <p:cNvSpPr txBox="1"/>
            <p:nvPr/>
          </p:nvSpPr>
          <p:spPr>
            <a:xfrm>
              <a:off x="3109854" y="4433712"/>
              <a:ext cx="1000760" cy="260985"/>
            </a:xfrm>
            <a:prstGeom prst="rect">
              <a:avLst/>
            </a:prstGeom>
          </p:spPr>
          <p:txBody>
            <a:bodyPr wrap="square" lIns="0" tIns="0" rIns="0" bIns="0" rtlCol="0" anchor="t">
              <a:spAutoFit/>
            </a:bodyPr>
            <a:lstStyle/>
            <a:p>
              <a:pPr>
                <a:lnSpc>
                  <a:spcPts val="2040"/>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Mr. Ankit</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grpSp>
      <p:pic>
        <p:nvPicPr>
          <p:cNvPr id="71" name="Picture 70"/>
          <p:cNvPicPr>
            <a:picLocks noChangeAspect="1"/>
          </p:cNvPicPr>
          <p:nvPr/>
        </p:nvPicPr>
        <p:blipFill>
          <a:blip r:embed="rId4"/>
          <a:srcRect l="28109" t="6546" r="28551" b="49509"/>
          <a:stretch>
            <a:fillRect/>
          </a:stretch>
        </p:blipFill>
        <p:spPr>
          <a:xfrm>
            <a:off x="447718" y="4346948"/>
            <a:ext cx="375815" cy="381063"/>
          </a:xfrm>
          <a:prstGeom prst="rect">
            <a:avLst/>
          </a:prstGeom>
        </p:spPr>
      </p:pic>
      <p:grpSp>
        <p:nvGrpSpPr>
          <p:cNvPr id="49" name="Group 48"/>
          <p:cNvGrpSpPr/>
          <p:nvPr/>
        </p:nvGrpSpPr>
        <p:grpSpPr>
          <a:xfrm>
            <a:off x="640733" y="769747"/>
            <a:ext cx="3051630" cy="258616"/>
            <a:chOff x="1068621" y="826472"/>
            <a:chExt cx="2166264" cy="183584"/>
          </a:xfrm>
        </p:grpSpPr>
        <p:pic>
          <p:nvPicPr>
            <p:cNvPr id="55" name="Picture 54" descr="A blue and black logo&#10;&#10;AI-generated content may be incorrect."/>
            <p:cNvPicPr>
              <a:picLocks noChangeAspect="1"/>
            </p:cNvPicPr>
            <p:nvPr/>
          </p:nvPicPr>
          <p:blipFill>
            <a:blip r:embed="rId5"/>
            <a:stretch>
              <a:fillRect/>
            </a:stretch>
          </p:blipFill>
          <p:spPr>
            <a:xfrm>
              <a:off x="1068621" y="826472"/>
              <a:ext cx="632879" cy="158848"/>
            </a:xfrm>
            <a:prstGeom prst="rect">
              <a:avLst/>
            </a:prstGeom>
          </p:spPr>
        </p:pic>
        <p:pic>
          <p:nvPicPr>
            <p:cNvPr id="57" name="Picture 56" descr="A close up of a logo&#10;&#10;AI-generated content may be incorrect."/>
            <p:cNvPicPr>
              <a:picLocks noChangeAspect="1"/>
            </p:cNvPicPr>
            <p:nvPr/>
          </p:nvPicPr>
          <p:blipFill>
            <a:blip r:embed="rId6"/>
            <a:stretch>
              <a:fillRect/>
            </a:stretch>
          </p:blipFill>
          <p:spPr>
            <a:xfrm>
              <a:off x="2670437" y="826472"/>
              <a:ext cx="564448" cy="183584"/>
            </a:xfrm>
            <a:prstGeom prst="rect">
              <a:avLst/>
            </a:prstGeom>
          </p:spPr>
        </p:pic>
      </p:grpSp>
      <p:sp>
        <p:nvSpPr>
          <p:cNvPr id="31" name="Shape 7"/>
          <p:cNvSpPr/>
          <p:nvPr/>
        </p:nvSpPr>
        <p:spPr>
          <a:xfrm rot="18195971">
            <a:off x="5802826" y="2309413"/>
            <a:ext cx="2834640" cy="109728"/>
          </a:xfrm>
          <a:prstGeom prst="rect">
            <a:avLst/>
          </a:prstGeom>
          <a:solidFill>
            <a:srgbClr val="4FC3F7"/>
          </a:solidFill>
        </p:spPr>
        <p:txBody>
          <a:bodyPr/>
          <a:lstStyle/>
          <a:p>
            <a:endParaRPr lang="en-IN"/>
          </a:p>
        </p:txBody>
      </p:sp>
      <p:sp>
        <p:nvSpPr>
          <p:cNvPr id="32" name="Shape 8"/>
          <p:cNvSpPr/>
          <p:nvPr/>
        </p:nvSpPr>
        <p:spPr>
          <a:xfrm rot="18195971">
            <a:off x="6146363" y="2413708"/>
            <a:ext cx="2468880" cy="109728"/>
          </a:xfrm>
          <a:prstGeom prst="rect">
            <a:avLst/>
          </a:prstGeom>
          <a:solidFill>
            <a:srgbClr val="4FC3F7"/>
          </a:solidFill>
        </p:spPr>
        <p:txBody>
          <a:bodyPr/>
          <a:lstStyle/>
          <a:p>
            <a:endParaRPr lang="en-IN"/>
          </a:p>
        </p:txBody>
      </p:sp>
      <p:sp>
        <p:nvSpPr>
          <p:cNvPr id="33" name="Shape 9"/>
          <p:cNvSpPr/>
          <p:nvPr/>
        </p:nvSpPr>
        <p:spPr>
          <a:xfrm rot="18195971">
            <a:off x="6482126" y="2528680"/>
            <a:ext cx="2103120" cy="109728"/>
          </a:xfrm>
          <a:prstGeom prst="rect">
            <a:avLst/>
          </a:prstGeom>
          <a:solidFill>
            <a:srgbClr val="4FC3F7"/>
          </a:solidFill>
        </p:spPr>
        <p:txBody>
          <a:bodyPr/>
          <a:lstStyle/>
          <a:p>
            <a:endParaRPr lang="en-IN"/>
          </a:p>
        </p:txBody>
      </p:sp>
      <p:sp>
        <p:nvSpPr>
          <p:cNvPr id="39" name="Shape 9"/>
          <p:cNvSpPr/>
          <p:nvPr/>
        </p:nvSpPr>
        <p:spPr>
          <a:xfrm rot="18195971">
            <a:off x="6735713" y="2647223"/>
            <a:ext cx="1872046" cy="116269"/>
          </a:xfrm>
          <a:prstGeom prst="rect">
            <a:avLst/>
          </a:prstGeom>
          <a:solidFill>
            <a:srgbClr val="4FC3F7"/>
          </a:solidFill>
        </p:spPr>
        <p:txBody>
          <a:bodyPr/>
          <a:lstStyle/>
          <a:p>
            <a:endParaRPr lang="en-IN"/>
          </a:p>
        </p:txBody>
      </p:sp>
      <p:pic>
        <p:nvPicPr>
          <p:cNvPr id="46" name="Picture 45"/>
          <p:cNvPicPr>
            <a:picLocks noChangeAspect="1"/>
          </p:cNvPicPr>
          <p:nvPr/>
        </p:nvPicPr>
        <p:blipFill>
          <a:blip r:embed="rId7"/>
          <a:srcRect b="19729"/>
          <a:stretch>
            <a:fillRect/>
          </a:stretch>
        </p:blipFill>
        <p:spPr>
          <a:xfrm>
            <a:off x="173754" y="1046557"/>
            <a:ext cx="3854253" cy="1849530"/>
          </a:xfrm>
          <a:prstGeom prst="rect">
            <a:avLst/>
          </a:prstGeom>
        </p:spPr>
      </p:pic>
      <p:sp>
        <p:nvSpPr>
          <p:cNvPr id="27" name="TextBox 26"/>
          <p:cNvSpPr txBox="1"/>
          <p:nvPr/>
        </p:nvSpPr>
        <p:spPr>
          <a:xfrm>
            <a:off x="68580" y="3462655"/>
            <a:ext cx="5922645" cy="708660"/>
          </a:xfrm>
          <a:prstGeom prst="rect">
            <a:avLst/>
          </a:prstGeom>
          <a:noFill/>
        </p:spPr>
        <p:txBody>
          <a:bodyPr wrap="square">
            <a:noAutofit/>
          </a:bodyPr>
          <a:lstStyle/>
          <a:p>
            <a:pPr algn="ctr">
              <a:spcBef>
                <a:spcPts val="400"/>
              </a:spcBef>
              <a:spcAft>
                <a:spcPts val="400"/>
              </a:spcAft>
              <a:buNone/>
            </a:pPr>
            <a:r>
              <a:rPr lang="en-US" altLang="en-US" sz="1800" b="1" dirty="0">
                <a:solidFill>
                  <a:srgbClr val="1B3A8A"/>
                </a:solidFill>
                <a:effectLst/>
                <a:latin typeface="Arial" panose="020B0604020202020204" pitchFamily="34" charset="0"/>
                <a:ea typeface="Arial" panose="020B0604020202020204" pitchFamily="34" charset="0"/>
              </a:rPr>
              <a:t>AI-Powered Student Feedback Intelligence: Transforming Insights into Teaching Excellence”</a:t>
            </a:r>
            <a:endParaRPr lang="en-IN" sz="1050" dirty="0">
              <a:effectLst/>
              <a:latin typeface="Arial" panose="020B0604020202020204" pitchFamily="34" charset="0"/>
              <a:ea typeface="Arial" panose="020B0604020202020204" pitchFamily="34" charset="0"/>
            </a:endParaRPr>
          </a:p>
        </p:txBody>
      </p:sp>
    </p:spTree>
    <p:custDataLst>
      <p:tags r:id="rId8"/>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anose="020F0502020204030204"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endParaRPr lang="en-US" sz="1800" dirty="0">
              <a:latin typeface="Lato" panose="020F0502020204030203" pitchFamily="34" charset="0"/>
              <a:ea typeface="+mn-lt"/>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endParaRPr lang="en-US" sz="1800" dirty="0">
              <a:latin typeface="Lato" panose="020F0502020204030203" pitchFamily="34" charset="0"/>
              <a:ea typeface="+mn-lt"/>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endParaRPr lang="en-US" sz="1800" dirty="0">
              <a:latin typeface="Lato" panose="020F0502020204030203" pitchFamily="34" charset="0"/>
              <a:ea typeface="+mn-lt"/>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endParaRPr lang="en-US" sz="1800" dirty="0">
              <a:latin typeface="Lato" panose="020F0502020204030203" pitchFamily="34" charset="0"/>
              <a:ea typeface="+mn-lt"/>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endParaRPr lang="en-US" sz="1800" dirty="0">
              <a:latin typeface="Lato" panose="020F0502020204030203" pitchFamily="34" charset="0"/>
              <a:ea typeface="+mn-lt"/>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endParaRPr lang="en-IN" sz="1800" dirty="0">
              <a:latin typeface="Lato" panose="020F0502020204030203" pitchFamily="34" charset="0"/>
              <a:ea typeface="+mn-lt"/>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endParaRPr lang="en-US" sz="1800" dirty="0">
              <a:latin typeface="Lato" panose="020F0502020204030203" pitchFamily="34" charset="0"/>
              <a:ea typeface="+mn-lt"/>
              <a:cs typeface="Arial" panose="020B0604020202020204" pitchFamily="34" charset="0"/>
            </a:endParaRPr>
          </a:p>
        </p:txBody>
      </p:sp>
      <p:pic>
        <p:nvPicPr>
          <p:cNvPr id="25" name="Picture 24" descr="A screen shot of a computer&#10;&#10;AI-generated content may be incorrect."/>
          <p:cNvPicPr>
            <a:picLocks noChangeAspect="1"/>
          </p:cNvPicPr>
          <p:nvPr/>
        </p:nvPicPr>
        <p:blipFill>
          <a:blip r:embed="rId1">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anose="020F0502020204030204"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p:cNvSpPr txBox="1"/>
          <p:nvPr/>
        </p:nvSpPr>
        <p:spPr>
          <a:xfrm>
            <a:off x="140480" y="1082801"/>
            <a:ext cx="5002346" cy="3825875"/>
          </a:xfrm>
          <a:prstGeom prst="rect">
            <a:avLst/>
          </a:prstGeom>
          <a:noFill/>
        </p:spPr>
        <p:txBody>
          <a:bodyPr wrap="square">
            <a:spAutoFit/>
          </a:bodyPr>
          <a:lstStyle/>
          <a:p>
            <a:pPr marL="285750" indent="-285750">
              <a:spcAft>
                <a:spcPts val="800"/>
              </a:spcAft>
              <a:buFont typeface="Wingdings" panose="05000000000000000000" charset="0"/>
              <a:buChar char="Ø"/>
              <a:tabLst>
                <a:tab pos="4229100" algn="ctr"/>
              </a:tabLst>
            </a:pPr>
            <a:r>
              <a:rPr lang="en-US" altLang="en-US" sz="1800" dirty="0">
                <a:latin typeface="Lato" panose="020F0502020204030203" pitchFamily="34" charset="0"/>
                <a:ea typeface="+mn-lt"/>
                <a:cs typeface="Arial" panose="020B0604020202020204" pitchFamily="34" charset="0"/>
              </a:rPr>
              <a:t>An AI-based system developed under the AICW Fellowship to convert student feedback into actionable insights.</a:t>
            </a:r>
            <a:endParaRPr lang="en-US" altLang="en-US" sz="1800" dirty="0">
              <a:latin typeface="Lato" panose="020F0502020204030203" pitchFamily="34" charset="0"/>
              <a:ea typeface="+mn-lt"/>
              <a:cs typeface="Arial" panose="020B0604020202020204" pitchFamily="34" charset="0"/>
            </a:endParaRPr>
          </a:p>
          <a:p>
            <a:pPr marL="285750" indent="-285750">
              <a:spcAft>
                <a:spcPts val="800"/>
              </a:spcAft>
              <a:buFont typeface="Wingdings" panose="05000000000000000000" charset="0"/>
              <a:buChar char="Ø"/>
              <a:tabLst>
                <a:tab pos="4229100" algn="ctr"/>
              </a:tabLst>
            </a:pPr>
            <a:r>
              <a:rPr lang="en-US" altLang="en-US" sz="1800" dirty="0">
                <a:latin typeface="Lato" panose="020F0502020204030203" pitchFamily="34" charset="0"/>
                <a:ea typeface="+mn-lt"/>
                <a:cs typeface="Arial" panose="020B0604020202020204" pitchFamily="34" charset="0"/>
              </a:rPr>
              <a:t>To analyze unstructured feedback and improve teaching effectiveness using data-driven insights.</a:t>
            </a:r>
            <a:endParaRPr lang="en-US" altLang="en-US" sz="1800" dirty="0">
              <a:latin typeface="Lato" panose="020F0502020204030203" pitchFamily="34" charset="0"/>
              <a:ea typeface="+mn-lt"/>
              <a:cs typeface="Arial" panose="020B0604020202020204" pitchFamily="34" charset="0"/>
            </a:endParaRPr>
          </a:p>
          <a:p>
            <a:pPr marL="285750" indent="-285750">
              <a:spcAft>
                <a:spcPts val="800"/>
              </a:spcAft>
              <a:buFont typeface="Wingdings" panose="05000000000000000000" charset="0"/>
              <a:buChar char="Ø"/>
              <a:tabLst>
                <a:tab pos="4229100" algn="ctr"/>
              </a:tabLst>
            </a:pPr>
            <a:r>
              <a:rPr lang="en-US" altLang="en-US" sz="1800" dirty="0">
                <a:latin typeface="Lato" panose="020F0502020204030203" pitchFamily="34" charset="0"/>
                <a:ea typeface="+mn-lt"/>
                <a:cs typeface="Arial" panose="020B0604020202020204" pitchFamily="34" charset="0"/>
              </a:rPr>
              <a:t>NLP, sentiment analysis, data visualization tools, and Microsoft Copilot.</a:t>
            </a:r>
            <a:endParaRPr lang="en-US" altLang="en-US" sz="1800" dirty="0">
              <a:latin typeface="Lato" panose="020F0502020204030203" pitchFamily="34" charset="0"/>
              <a:ea typeface="+mn-lt"/>
              <a:cs typeface="Arial" panose="020B0604020202020204" pitchFamily="34" charset="0"/>
            </a:endParaRPr>
          </a:p>
          <a:p>
            <a:pPr marL="285750" indent="-285750">
              <a:spcAft>
                <a:spcPts val="800"/>
              </a:spcAft>
              <a:buFont typeface="Wingdings" panose="05000000000000000000" charset="0"/>
              <a:buChar char="Ø"/>
              <a:tabLst>
                <a:tab pos="4229100" algn="ctr"/>
              </a:tabLst>
            </a:pPr>
            <a:r>
              <a:rPr lang="en-US" altLang="en-US" sz="1800" dirty="0">
                <a:latin typeface="Lato" panose="020F0502020204030203" pitchFamily="34" charset="0"/>
                <a:ea typeface="+mn-lt"/>
                <a:cs typeface="Arial" panose="020B0604020202020204" pitchFamily="34" charset="0"/>
              </a:rPr>
              <a:t>Clear insights, reduced data noise, and improved decision-making through interactive dashboards.</a:t>
            </a:r>
            <a:endParaRPr lang="en-US" altLang="en-US" sz="1800" dirty="0">
              <a:latin typeface="Lato" panose="020F0502020204030203" pitchFamily="34" charset="0"/>
              <a:ea typeface="+mn-lt"/>
              <a:cs typeface="Arial" panose="020B0604020202020204" pitchFamily="34" charset="0"/>
            </a:endParaRPr>
          </a:p>
          <a:p>
            <a:pPr marL="285750" indent="-285750">
              <a:spcAft>
                <a:spcPts val="800"/>
              </a:spcAft>
              <a:buFont typeface="Wingdings" panose="05000000000000000000" charset="0"/>
              <a:buChar char="Ø"/>
              <a:tabLst>
                <a:tab pos="4229100" algn="ctr"/>
              </a:tabLst>
            </a:pPr>
            <a:r>
              <a:rPr lang="en-US" altLang="en-US" sz="1800" dirty="0">
                <a:latin typeface="Lato" panose="020F0502020204030203" pitchFamily="34" charset="0"/>
                <a:ea typeface="+mn-lt"/>
                <a:cs typeface="Arial" panose="020B0604020202020204" pitchFamily="34" charset="0"/>
              </a:rPr>
              <a:t>Real-time analysis, pattern detection, and AI-powered feedback intelligence for continuous improvement.</a:t>
            </a:r>
            <a:endParaRPr lang="en-US" altLang="en-US" sz="1800" dirty="0">
              <a:latin typeface="Lato" panose="020F0502020204030203" pitchFamily="34" charset="0"/>
              <a:ea typeface="+mn-lt"/>
              <a:cs typeface="Arial" panose="020B0604020202020204" pitchFamily="34" charset="0"/>
            </a:endParaRPr>
          </a:p>
        </p:txBody>
      </p:sp>
      <p:sp>
        <p:nvSpPr>
          <p:cNvPr id="2" name="Freeform 28"/>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txBody>
          <a:bodyPr/>
          <a:lstStyle/>
          <a:p>
            <a:endParaRPr 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5268595" y="873760"/>
            <a:ext cx="3566795" cy="3947160"/>
          </a:xfrm>
          <a:prstGeom prst="rect">
            <a:avLst/>
          </a:prstGeom>
        </p:spPr>
      </p:pic>
      <p:sp>
        <p:nvSpPr>
          <p:cNvPr id="4" name="Text 2"/>
          <p:cNvSpPr/>
          <p:nvPr/>
        </p:nvSpPr>
        <p:spPr>
          <a:xfrm>
            <a:off x="120623" y="611286"/>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anose="020F0502020204030204"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p:cNvSpPr txBox="1"/>
          <p:nvPr/>
        </p:nvSpPr>
        <p:spPr>
          <a:xfrm>
            <a:off x="125095" y="1082675"/>
            <a:ext cx="4933950" cy="3702685"/>
          </a:xfrm>
          <a:prstGeom prst="rect">
            <a:avLst/>
          </a:prstGeom>
          <a:noFill/>
        </p:spPr>
        <p:txBody>
          <a:bodyPr wrap="square">
            <a:spAutoFit/>
          </a:bodyPr>
          <a:lstStyle/>
          <a:p>
            <a:pPr marL="228600" indent="-228600" algn="just">
              <a:spcAft>
                <a:spcPts val="800"/>
              </a:spcAft>
              <a:buFont typeface="Arial" panose="020B0604020202020204" pitchFamily="34" charset="0"/>
              <a:buChar char="•"/>
              <a:tabLst>
                <a:tab pos="4229100" algn="ctr"/>
              </a:tabLst>
            </a:pPr>
            <a:r>
              <a:rPr lang="en-US" altLang="en-US" sz="1600" dirty="0">
                <a:latin typeface="Times New Roman" panose="02020603050405020304" pitchFamily="18" charset="0"/>
                <a:ea typeface="+mn-lt"/>
                <a:cs typeface="Times New Roman" panose="02020603050405020304" pitchFamily="18" charset="0"/>
              </a:rPr>
              <a:t>Student feedback is underutilized due to its unstructured nature and lack of effective analysis.</a:t>
            </a:r>
            <a:endParaRPr lang="en-US" altLang="en-US" sz="1600" dirty="0">
              <a:latin typeface="Times New Roman" panose="02020603050405020304" pitchFamily="18" charset="0"/>
              <a:ea typeface="+mn-lt"/>
              <a:cs typeface="Times New Roman" panose="02020603050405020304" pitchFamily="18" charset="0"/>
            </a:endParaRPr>
          </a:p>
          <a:p>
            <a:pPr marL="228600" indent="-228600" algn="just">
              <a:spcAft>
                <a:spcPts val="800"/>
              </a:spcAft>
              <a:buFont typeface="Arial" panose="020B0604020202020204" pitchFamily="34" charset="0"/>
              <a:buChar char="•"/>
              <a:tabLst>
                <a:tab pos="4229100" algn="ctr"/>
              </a:tabLst>
            </a:pPr>
            <a:r>
              <a:rPr lang="en-US" altLang="en-US" sz="1600" dirty="0">
                <a:latin typeface="Times New Roman" panose="02020603050405020304" pitchFamily="18" charset="0"/>
                <a:ea typeface="+mn-lt"/>
                <a:cs typeface="Times New Roman" panose="02020603050405020304" pitchFamily="18" charset="0"/>
              </a:rPr>
              <a:t>The problem is challenging because large volumes of qualitative data are difficult to process and delay meaningful action.</a:t>
            </a:r>
            <a:endParaRPr lang="en-US" altLang="en-US" sz="1600" dirty="0">
              <a:latin typeface="Times New Roman" panose="02020603050405020304" pitchFamily="18" charset="0"/>
              <a:ea typeface="+mn-lt"/>
              <a:cs typeface="Times New Roman" panose="02020603050405020304" pitchFamily="18" charset="0"/>
            </a:endParaRPr>
          </a:p>
          <a:p>
            <a:pPr marL="228600" indent="-228600" algn="just">
              <a:spcAft>
                <a:spcPts val="800"/>
              </a:spcAft>
              <a:buFont typeface="Arial" panose="020B0604020202020204" pitchFamily="34" charset="0"/>
              <a:buChar char="•"/>
              <a:tabLst>
                <a:tab pos="4229100" algn="ctr"/>
              </a:tabLst>
            </a:pPr>
            <a:r>
              <a:rPr lang="en-US" altLang="en-US" sz="1600" dirty="0">
                <a:latin typeface="Times New Roman" panose="02020603050405020304" pitchFamily="18" charset="0"/>
                <a:ea typeface="+mn-lt"/>
                <a:cs typeface="Times New Roman" panose="02020603050405020304" pitchFamily="18" charset="0"/>
              </a:rPr>
              <a:t>Educators, administrators, and students are impacted due to lack of actionable insights and effective decision-making.</a:t>
            </a:r>
            <a:endParaRPr lang="en-US" altLang="en-US" sz="1600" dirty="0">
              <a:latin typeface="Times New Roman" panose="02020603050405020304" pitchFamily="18" charset="0"/>
              <a:ea typeface="+mn-lt"/>
              <a:cs typeface="Times New Roman" panose="02020603050405020304" pitchFamily="18" charset="0"/>
            </a:endParaRPr>
          </a:p>
          <a:p>
            <a:pPr marL="228600" indent="-228600" algn="just">
              <a:spcAft>
                <a:spcPts val="800"/>
              </a:spcAft>
              <a:buFont typeface="Arial" panose="020B0604020202020204" pitchFamily="34" charset="0"/>
              <a:buChar char="•"/>
              <a:tabLst>
                <a:tab pos="4229100" algn="ctr"/>
              </a:tabLst>
            </a:pPr>
            <a:r>
              <a:rPr lang="en-US" altLang="en-US" sz="1600" dirty="0">
                <a:latin typeface="Times New Roman" panose="02020603050405020304" pitchFamily="18" charset="0"/>
                <a:ea typeface="+mn-lt"/>
                <a:cs typeface="Times New Roman" panose="02020603050405020304" pitchFamily="18" charset="0"/>
              </a:rPr>
              <a:t>Traditional methods like manual review and basic statistics fail to capture deep insights from feedback.</a:t>
            </a:r>
            <a:endParaRPr lang="en-US" altLang="en-US" sz="1600" dirty="0">
              <a:latin typeface="Times New Roman" panose="02020603050405020304" pitchFamily="18" charset="0"/>
              <a:ea typeface="+mn-lt"/>
              <a:cs typeface="Times New Roman" panose="02020603050405020304" pitchFamily="18" charset="0"/>
            </a:endParaRPr>
          </a:p>
          <a:p>
            <a:pPr marL="228600" indent="-228600" algn="just">
              <a:spcAft>
                <a:spcPts val="800"/>
              </a:spcAft>
              <a:buFont typeface="Arial" panose="020B0604020202020204" pitchFamily="34" charset="0"/>
              <a:buChar char="•"/>
              <a:tabLst>
                <a:tab pos="4229100" algn="ctr"/>
              </a:tabLst>
            </a:pPr>
            <a:r>
              <a:rPr lang="en-US" altLang="en-US" sz="1600" dirty="0">
                <a:latin typeface="Times New Roman" panose="02020603050405020304" pitchFamily="18" charset="0"/>
                <a:ea typeface="+mn-lt"/>
                <a:cs typeface="Times New Roman" panose="02020603050405020304" pitchFamily="18" charset="0"/>
              </a:rPr>
              <a:t>The project focuses on analyzing student feedback data using AI to generate insights, limited to educational contexts and feedback systems.</a:t>
            </a:r>
            <a:endParaRPr lang="en-US" altLang="en-US" sz="1600" dirty="0">
              <a:latin typeface="Times New Roman" panose="02020603050405020304" pitchFamily="18" charset="0"/>
              <a:ea typeface="+mn-lt"/>
              <a:cs typeface="Times New Roman" panose="02020603050405020304" pitchFamily="18" charset="0"/>
            </a:endParaRPr>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1"/>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anose="020F0502020204030204"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p:spPr>
        <p:txBody>
          <a:bodyPr wrap="square" rtlCol="0" anchor="ctr"/>
          <a:lstStyle/>
          <a:p>
            <a:pPr marL="0" indent="0" algn="ctr">
              <a:buNone/>
            </a:pPr>
            <a:endParaRPr lang="en-US" sz="8000" dirty="0"/>
          </a:p>
        </p:txBody>
      </p:sp>
      <p:sp>
        <p:nvSpPr>
          <p:cNvPr id="5" name="Text 12"/>
          <p:cNvSpPr/>
          <p:nvPr/>
        </p:nvSpPr>
        <p:spPr>
          <a:xfrm>
            <a:off x="125486" y="1046013"/>
            <a:ext cx="4416154" cy="3474720"/>
          </a:xfrm>
          <a:prstGeom prst="rect">
            <a:avLst/>
          </a:prstGeom>
          <a:noFill/>
        </p:spPr>
        <p:txBody>
          <a:bodyPr wrap="square" rtlCol="0" anchor="t"/>
          <a:lstStyle/>
          <a:p>
            <a:pPr marL="0" indent="0">
              <a:buNone/>
            </a:pPr>
            <a:r>
              <a:rPr lang="en-US" altLang="en-US" dirty="0">
                <a:latin typeface="Lato" panose="020F0502020204030203" pitchFamily="34" charset="0"/>
                <a:cs typeface="Arial" panose="020B0604020202020204" pitchFamily="34" charset="0"/>
              </a:rPr>
              <a:t>The proposed solution is an AI-powered system that uses NLP and sentiment analysis to process and analyze unstructured student feedback. </a:t>
            </a:r>
            <a:endParaRPr lang="en-US" altLang="en-US" dirty="0">
              <a:latin typeface="Lato" panose="020F0502020204030203" pitchFamily="34" charset="0"/>
              <a:cs typeface="Arial" panose="020B0604020202020204" pitchFamily="34" charset="0"/>
            </a:endParaRPr>
          </a:p>
          <a:p>
            <a:pPr marL="0" indent="0">
              <a:buNone/>
            </a:pPr>
            <a:r>
              <a:rPr lang="en-US" altLang="en-US" dirty="0">
                <a:latin typeface="Lato" panose="020F0502020204030203" pitchFamily="34" charset="0"/>
                <a:cs typeface="Arial" panose="020B0604020202020204" pitchFamily="34" charset="0"/>
              </a:rPr>
              <a:t>It involves data cleaning, categorization, and visualization through interactive dashboards using tools like Microsoft Copilot and PowerBi. </a:t>
            </a:r>
            <a:endParaRPr lang="en-US" altLang="en-US" dirty="0">
              <a:latin typeface="Lato" panose="020F0502020204030203" pitchFamily="34" charset="0"/>
              <a:cs typeface="Arial" panose="020B0604020202020204" pitchFamily="34" charset="0"/>
            </a:endParaRPr>
          </a:p>
          <a:p>
            <a:pPr marL="0" indent="0">
              <a:buNone/>
            </a:pPr>
            <a:r>
              <a:rPr lang="en-US" altLang="en-US" dirty="0">
                <a:latin typeface="Lato" panose="020F0502020204030203" pitchFamily="34" charset="0"/>
                <a:cs typeface="Arial" panose="020B0604020202020204" pitchFamily="34" charset="0"/>
              </a:rPr>
              <a:t>This approach enables faster, accurate, and real-time insights, overcoming limitations of manual methods by providing actionable recommendations and identifying hidden patterns in feedback.</a:t>
            </a:r>
            <a:endParaRPr lang="en-US" altLang="en-US" dirty="0">
              <a:latin typeface="Lato" panose="020F0502020204030203" pitchFamily="34" charset="0"/>
              <a:cs typeface="Arial" panose="020B0604020202020204" pitchFamily="34" charset="0"/>
            </a:endParaRPr>
          </a:p>
        </p:txBody>
      </p:sp>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anose="020F0502020204030204"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custDataLst>
              <p:tags r:id="rId1"/>
            </p:custDataLst>
          </p:nvPr>
        </p:nvSpPr>
        <p:spPr>
          <a:xfrm>
            <a:off x="235408" y="1243200"/>
            <a:ext cx="4114800" cy="384048"/>
          </a:xfrm>
          <a:prstGeom prst="rect">
            <a:avLst/>
          </a:prstGeom>
          <a:solidFill>
            <a:schemeClr val="accent1">
              <a:lumMod val="20000"/>
              <a:lumOff val="80000"/>
            </a:schemeClr>
          </a:solidFill>
        </p:spPr>
        <p:txBody>
          <a:bodyPr/>
          <a:lstStyle/>
          <a:p>
            <a:endParaRPr lang="en-IN">
              <a:latin typeface="Lato" panose="020F0502020204030203" pitchFamily="34" charset="0"/>
            </a:endParaRPr>
          </a:p>
        </p:txBody>
      </p:sp>
      <p:sp>
        <p:nvSpPr>
          <p:cNvPr id="7" name="Shape 5"/>
          <p:cNvSpPr/>
          <p:nvPr>
            <p:custDataLst>
              <p:tags r:id="rId2"/>
            </p:custDataLst>
          </p:nvPr>
        </p:nvSpPr>
        <p:spPr>
          <a:xfrm>
            <a:off x="4167328" y="1243200"/>
            <a:ext cx="320040" cy="384048"/>
          </a:xfrm>
          <a:prstGeom prst="rect">
            <a:avLst/>
          </a:prstGeom>
          <a:solidFill>
            <a:srgbClr val="1B3A8A"/>
          </a:solidFill>
        </p:spPr>
        <p:txBody>
          <a:bodyPr/>
          <a:lstStyle/>
          <a:p>
            <a:endParaRPr lang="en-IN">
              <a:latin typeface="Lato" panose="020F0502020204030203" pitchFamily="34" charset="0"/>
            </a:endParaRPr>
          </a:p>
        </p:txBody>
      </p:sp>
      <p:sp>
        <p:nvSpPr>
          <p:cNvPr id="8" name="Text 6"/>
          <p:cNvSpPr/>
          <p:nvPr>
            <p:custDataLst>
              <p:tags r:id="rId3"/>
            </p:custDataLst>
          </p:nvPr>
        </p:nvSpPr>
        <p:spPr>
          <a:xfrm>
            <a:off x="326848" y="1279776"/>
            <a:ext cx="3840480" cy="310896"/>
          </a:xfrm>
          <a:prstGeom prst="rect">
            <a:avLst/>
          </a:prstGeom>
          <a:noFill/>
        </p:spPr>
        <p:txBody>
          <a:bodyPr wrap="square" rtlCol="0" anchor="ctr"/>
          <a:lstStyle/>
          <a:p>
            <a:pPr marL="0" indent="0">
              <a:buNone/>
            </a:pPr>
            <a:r>
              <a:rPr lang="en-US" sz="1600" b="1" dirty="0">
                <a:latin typeface="Lato" panose="020F0502020204030203" pitchFamily="34" charset="0"/>
                <a:ea typeface="Calibri" panose="020F0502020204030204"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custDataLst>
              <p:tags r:id="rId4"/>
            </p:custDataLst>
          </p:nvPr>
        </p:nvSpPr>
        <p:spPr>
          <a:xfrm>
            <a:off x="326848" y="1700400"/>
            <a:ext cx="4023360" cy="1188720"/>
          </a:xfrm>
          <a:prstGeom prst="rect">
            <a:avLst/>
          </a:prstGeom>
          <a:noFill/>
        </p:spPr>
        <p:txBody>
          <a:bodyPr wrap="square" rtlCol="0" anchor="t"/>
          <a:lstStyle/>
          <a:p>
            <a:pPr marL="0" indent="0">
              <a:buNone/>
            </a:pPr>
            <a:r>
              <a:rPr lang="en-US" altLang="en-US" sz="1400" dirty="0">
                <a:latin typeface="Lato" panose="020F0502020204030203" pitchFamily="34" charset="0"/>
                <a:cs typeface="Arial" panose="020B0604020202020204" pitchFamily="34" charset="0"/>
              </a:rPr>
              <a:t>The data was collected from the college database and through a structured questionnaire circulated via Google Forms, resulting in a total of 315 student responses used for analysis.</a:t>
            </a:r>
            <a:endParaRPr lang="en-US" altLang="en-US" sz="1400" dirty="0">
              <a:latin typeface="Lato" panose="020F0502020204030203" pitchFamily="34" charset="0"/>
              <a:cs typeface="Arial" panose="020B0604020202020204" pitchFamily="34" charset="0"/>
            </a:endParaRPr>
          </a:p>
        </p:txBody>
      </p:sp>
      <p:sp>
        <p:nvSpPr>
          <p:cNvPr id="10" name="Shape 8"/>
          <p:cNvSpPr/>
          <p:nvPr>
            <p:custDataLst>
              <p:tags r:id="rId5"/>
            </p:custDataLst>
          </p:nvPr>
        </p:nvSpPr>
        <p:spPr>
          <a:xfrm>
            <a:off x="4670248" y="1243200"/>
            <a:ext cx="4114800" cy="384048"/>
          </a:xfrm>
          <a:prstGeom prst="rect">
            <a:avLst/>
          </a:prstGeom>
          <a:solidFill>
            <a:schemeClr val="accent1">
              <a:lumMod val="20000"/>
              <a:lumOff val="80000"/>
            </a:schemeClr>
          </a:solidFill>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custDataLst>
              <p:tags r:id="rId6"/>
            </p:custDataLst>
          </p:nvPr>
        </p:nvSpPr>
        <p:spPr>
          <a:xfrm>
            <a:off x="8602168" y="1243200"/>
            <a:ext cx="320040" cy="384048"/>
          </a:xfrm>
          <a:prstGeom prst="rect">
            <a:avLst/>
          </a:prstGeom>
          <a:solidFill>
            <a:srgbClr val="1B3A8A"/>
          </a:solidFill>
        </p:spPr>
        <p:txBody>
          <a:bodyPr/>
          <a:lstStyle/>
          <a:p>
            <a:endParaRPr lang="en-IN">
              <a:latin typeface="Lato" panose="020F0502020204030203" pitchFamily="34" charset="0"/>
            </a:endParaRPr>
          </a:p>
        </p:txBody>
      </p:sp>
      <p:sp>
        <p:nvSpPr>
          <p:cNvPr id="12" name="Text 10"/>
          <p:cNvSpPr/>
          <p:nvPr>
            <p:custDataLst>
              <p:tags r:id="rId7"/>
            </p:custDataLst>
          </p:nvPr>
        </p:nvSpPr>
        <p:spPr>
          <a:xfrm>
            <a:off x="4761688" y="1279776"/>
            <a:ext cx="3840480" cy="310896"/>
          </a:xfrm>
          <a:prstGeom prst="rect">
            <a:avLst/>
          </a:prstGeom>
          <a:noFill/>
        </p:spPr>
        <p:txBody>
          <a:bodyPr wrap="square" rtlCol="0" anchor="ctr"/>
          <a:lstStyle/>
          <a:p>
            <a:pPr marL="0" indent="0">
              <a:buNone/>
            </a:pPr>
            <a:r>
              <a:rPr lang="en-US" sz="1600" b="1" dirty="0">
                <a:latin typeface="Lato" panose="020F0502020204030203" pitchFamily="34" charset="0"/>
                <a:ea typeface="Calibri" panose="020F0502020204030204"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custDataLst>
              <p:tags r:id="rId8"/>
            </p:custDataLst>
          </p:nvPr>
        </p:nvSpPr>
        <p:spPr>
          <a:xfrm>
            <a:off x="4761865" y="1700530"/>
            <a:ext cx="4125595" cy="1242695"/>
          </a:xfrm>
          <a:prstGeom prst="rect">
            <a:avLst/>
          </a:prstGeom>
          <a:noFill/>
        </p:spPr>
        <p:txBody>
          <a:bodyPr wrap="square" rtlCol="0" anchor="t"/>
          <a:lstStyle/>
          <a:p>
            <a:pPr marL="0" indent="0">
              <a:buNone/>
            </a:pPr>
            <a:r>
              <a:rPr lang="en-US" altLang="en-US" sz="1400" dirty="0">
                <a:latin typeface="Lato" panose="020F0502020204030203" pitchFamily="34" charset="0"/>
                <a:cs typeface="Arial" panose="020B0604020202020204" pitchFamily="34" charset="0"/>
              </a:rPr>
              <a:t>The data was processed using Power BI, where it was split and transformed, and null or irrelevant entries were removed during cleaning; out of the initial 315 responses, 5 were deleted, resulting in 310 valid rows used for analysis.</a:t>
            </a:r>
            <a:endParaRPr lang="en-US" altLang="en-US" sz="1400" dirty="0">
              <a:latin typeface="Lato" panose="020F0502020204030203" pitchFamily="34" charset="0"/>
              <a:cs typeface="Arial" panose="020B0604020202020204" pitchFamily="34" charset="0"/>
            </a:endParaRPr>
          </a:p>
        </p:txBody>
      </p:sp>
      <p:sp>
        <p:nvSpPr>
          <p:cNvPr id="14" name="Shape 12"/>
          <p:cNvSpPr/>
          <p:nvPr>
            <p:custDataLst>
              <p:tags r:id="rId9"/>
            </p:custDataLst>
          </p:nvPr>
        </p:nvSpPr>
        <p:spPr>
          <a:xfrm>
            <a:off x="235408" y="2969856"/>
            <a:ext cx="4114800" cy="384048"/>
          </a:xfrm>
          <a:prstGeom prst="rect">
            <a:avLst/>
          </a:prstGeom>
          <a:solidFill>
            <a:schemeClr val="accent1">
              <a:lumMod val="20000"/>
              <a:lumOff val="80000"/>
            </a:schemeClr>
          </a:solidFill>
        </p:spPr>
        <p:txBody>
          <a:bodyPr/>
          <a:lstStyle/>
          <a:p>
            <a:endParaRPr lang="en-IN">
              <a:latin typeface="Lato" panose="020F0502020204030203" pitchFamily="34" charset="0"/>
            </a:endParaRPr>
          </a:p>
        </p:txBody>
      </p:sp>
      <p:sp>
        <p:nvSpPr>
          <p:cNvPr id="15" name="Shape 13"/>
          <p:cNvSpPr/>
          <p:nvPr>
            <p:custDataLst>
              <p:tags r:id="rId10"/>
            </p:custDataLst>
          </p:nvPr>
        </p:nvSpPr>
        <p:spPr>
          <a:xfrm>
            <a:off x="4167328" y="2969856"/>
            <a:ext cx="320040" cy="384048"/>
          </a:xfrm>
          <a:prstGeom prst="rect">
            <a:avLst/>
          </a:prstGeom>
          <a:solidFill>
            <a:srgbClr val="1B3A8A"/>
          </a:solidFill>
        </p:spPr>
        <p:txBody>
          <a:bodyPr/>
          <a:lstStyle/>
          <a:p>
            <a:endParaRPr lang="en-IN">
              <a:latin typeface="Lato" panose="020F0502020204030203" pitchFamily="34" charset="0"/>
            </a:endParaRPr>
          </a:p>
        </p:txBody>
      </p:sp>
      <p:sp>
        <p:nvSpPr>
          <p:cNvPr id="16" name="Text 14"/>
          <p:cNvSpPr/>
          <p:nvPr>
            <p:custDataLst>
              <p:tags r:id="rId11"/>
            </p:custDataLst>
          </p:nvPr>
        </p:nvSpPr>
        <p:spPr>
          <a:xfrm>
            <a:off x="326848" y="3006432"/>
            <a:ext cx="3840480" cy="310896"/>
          </a:xfrm>
          <a:prstGeom prst="rect">
            <a:avLst/>
          </a:prstGeom>
          <a:noFill/>
        </p:spPr>
        <p:txBody>
          <a:bodyPr wrap="square" rtlCol="0" anchor="ctr"/>
          <a:lstStyle/>
          <a:p>
            <a:pPr marL="0" indent="0">
              <a:buNone/>
            </a:pPr>
            <a:r>
              <a:rPr lang="en-US" sz="1600" b="1" dirty="0">
                <a:latin typeface="Lato" panose="020F0502020204030203" pitchFamily="34" charset="0"/>
                <a:ea typeface="Calibri" panose="020F0502020204030204"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custDataLst>
              <p:tags r:id="rId12"/>
            </p:custDataLst>
          </p:nvPr>
        </p:nvSpPr>
        <p:spPr>
          <a:xfrm>
            <a:off x="326848" y="3427056"/>
            <a:ext cx="4023360" cy="1188720"/>
          </a:xfrm>
          <a:prstGeom prst="rect">
            <a:avLst/>
          </a:prstGeom>
          <a:noFill/>
        </p:spPr>
        <p:txBody>
          <a:bodyPr wrap="square" rtlCol="0" anchor="t"/>
          <a:lstStyle/>
          <a:p>
            <a:pPr marL="0" indent="0">
              <a:buNone/>
            </a:pPr>
            <a:r>
              <a:rPr lang="en-US" altLang="en-US" sz="1200" dirty="0">
                <a:latin typeface="Lato" panose="020F0502020204030203" pitchFamily="34" charset="0"/>
                <a:cs typeface="Arial" panose="020B0604020202020204" pitchFamily="34" charset="0"/>
              </a:rPr>
              <a:t>The questionnaire responses collected via Google Forms were exported directly into Excel for initial storage and review. The dataset was then imported into Power BI, where data cleaning, removal of null values, and data transformation were performed. Power BI was also used for data modeling and visualization, while Microsoft Copilot assisted in generating insights and building interactive dashboards for effective analysis.</a:t>
            </a:r>
            <a:endParaRPr lang="en-US" altLang="en-US" sz="1200" dirty="0">
              <a:latin typeface="Lato" panose="020F0502020204030203" pitchFamily="34" charset="0"/>
              <a:cs typeface="Arial" panose="020B0604020202020204" pitchFamily="34" charset="0"/>
            </a:endParaRPr>
          </a:p>
        </p:txBody>
      </p:sp>
      <p:sp>
        <p:nvSpPr>
          <p:cNvPr id="18" name="Shape 16"/>
          <p:cNvSpPr/>
          <p:nvPr>
            <p:custDataLst>
              <p:tags r:id="rId13"/>
            </p:custDataLst>
          </p:nvPr>
        </p:nvSpPr>
        <p:spPr>
          <a:xfrm>
            <a:off x="4670248" y="2969856"/>
            <a:ext cx="4114800" cy="384048"/>
          </a:xfrm>
          <a:prstGeom prst="rect">
            <a:avLst/>
          </a:prstGeom>
          <a:solidFill>
            <a:schemeClr val="accent1">
              <a:lumMod val="20000"/>
              <a:lumOff val="80000"/>
            </a:schemeClr>
          </a:solidFill>
        </p:spPr>
        <p:txBody>
          <a:bodyPr/>
          <a:lstStyle/>
          <a:p>
            <a:endParaRPr lang="en-IN">
              <a:latin typeface="Lato" panose="020F0502020204030203" pitchFamily="34" charset="0"/>
            </a:endParaRPr>
          </a:p>
        </p:txBody>
      </p:sp>
      <p:sp>
        <p:nvSpPr>
          <p:cNvPr id="19" name="Shape 17"/>
          <p:cNvSpPr/>
          <p:nvPr>
            <p:custDataLst>
              <p:tags r:id="rId14"/>
            </p:custDataLst>
          </p:nvPr>
        </p:nvSpPr>
        <p:spPr>
          <a:xfrm>
            <a:off x="8602168" y="2969856"/>
            <a:ext cx="320040" cy="384048"/>
          </a:xfrm>
          <a:prstGeom prst="rect">
            <a:avLst/>
          </a:prstGeom>
          <a:solidFill>
            <a:srgbClr val="1B3A8A"/>
          </a:solidFill>
        </p:spPr>
        <p:txBody>
          <a:bodyPr/>
          <a:lstStyle/>
          <a:p>
            <a:endParaRPr lang="en-IN">
              <a:latin typeface="Lato" panose="020F0502020204030203" pitchFamily="34" charset="0"/>
            </a:endParaRPr>
          </a:p>
        </p:txBody>
      </p:sp>
      <p:sp>
        <p:nvSpPr>
          <p:cNvPr id="20" name="Text 18"/>
          <p:cNvSpPr/>
          <p:nvPr>
            <p:custDataLst>
              <p:tags r:id="rId15"/>
            </p:custDataLst>
          </p:nvPr>
        </p:nvSpPr>
        <p:spPr>
          <a:xfrm>
            <a:off x="4761688" y="3006432"/>
            <a:ext cx="3840480" cy="310896"/>
          </a:xfrm>
          <a:prstGeom prst="rect">
            <a:avLst/>
          </a:prstGeom>
          <a:noFill/>
        </p:spPr>
        <p:txBody>
          <a:bodyPr wrap="square" rtlCol="0" anchor="ctr"/>
          <a:lstStyle/>
          <a:p>
            <a:pPr marL="0" indent="0">
              <a:buNone/>
            </a:pPr>
            <a:r>
              <a:rPr lang="en-US" sz="1600" b="1" dirty="0">
                <a:latin typeface="Lato" panose="020F0502020204030203" pitchFamily="34" charset="0"/>
                <a:ea typeface="Calibri" panose="020F0502020204030204"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custDataLst>
              <p:tags r:id="rId16"/>
            </p:custDataLst>
          </p:nvPr>
        </p:nvSpPr>
        <p:spPr>
          <a:xfrm>
            <a:off x="4761688" y="3427056"/>
            <a:ext cx="4023360" cy="1188720"/>
          </a:xfrm>
          <a:prstGeom prst="rect">
            <a:avLst/>
          </a:prstGeom>
          <a:noFill/>
        </p:spPr>
        <p:txBody>
          <a:bodyPr wrap="square" rtlCol="0" anchor="t"/>
          <a:lstStyle/>
          <a:p>
            <a:pPr marL="0" indent="0">
              <a:buNone/>
            </a:pPr>
            <a:r>
              <a:rPr lang="en-US" sz="1600" dirty="0">
                <a:solidFill>
                  <a:srgbClr val="1A1A2E"/>
                </a:solidFill>
                <a:latin typeface="Lato" panose="020F0502020204030203" pitchFamily="34" charset="0"/>
                <a:ea typeface="Calibri" panose="020F0502020204030204" pitchFamily="34" charset="-122"/>
                <a:cs typeface="Arial" panose="020B0604020202020204" pitchFamily="34" charset="0"/>
              </a:rPr>
              <a:t>[Describe what the final output looks like: report, chart, dashboard.]</a:t>
            </a:r>
            <a:endParaRPr lang="en-US" sz="1600" dirty="0">
              <a:latin typeface="Lato" panose="020F0502020204030203" pitchFamily="34" charset="0"/>
              <a:cs typeface="Arial" panose="020B0604020202020204" pitchFamily="34" charset="0"/>
            </a:endParaRPr>
          </a:p>
        </p:txBody>
      </p:sp>
    </p:spTree>
    <p:custDataLst>
      <p:tags r:id="rId17"/>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anose="020F0502020204030204"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p:spPr>
        <p:txBody>
          <a:bodyPr wrap="square" rtlCol="0" anchor="ctr"/>
          <a:lstStyle/>
          <a:p>
            <a:pPr marL="0" indent="0">
              <a:buNone/>
            </a:pPr>
            <a:r>
              <a:rPr lang="en-US" dirty="0">
                <a:latin typeface="Lato" panose="020F0502020204030203" pitchFamily="34" charset="0"/>
                <a:ea typeface="Calibri" panose="020F0502020204030204"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74320" y="2196877"/>
            <a:ext cx="2788920" cy="2651760"/>
          </a:xfrm>
          <a:prstGeom prst="rect">
            <a:avLst/>
          </a:prstGeom>
          <a:solidFill>
            <a:schemeClr val="accent1">
              <a:lumMod val="20000"/>
              <a:lumOff val="80000"/>
            </a:schemeClr>
          </a:solidFill>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2413802"/>
            <a:ext cx="2788920" cy="411480"/>
          </a:xfrm>
          <a:prstGeom prst="rect">
            <a:avLst/>
          </a:prstGeom>
          <a:noFill/>
        </p:spPr>
        <p:txBody>
          <a:bodyPr wrap="square" rtlCol="0" anchor="ctr"/>
          <a:lstStyle/>
          <a:p>
            <a:pPr marL="0" indent="0" algn="ctr">
              <a:buNone/>
            </a:pPr>
            <a:r>
              <a:rPr lang="en-US" sz="1600" b="1" dirty="0">
                <a:latin typeface="Lato" panose="020F0502020204030203" pitchFamily="34" charset="0"/>
                <a:ea typeface="Calibri" panose="020F0502020204030204"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p:spPr>
        <p:txBody>
          <a:bodyPr wrap="square" rtlCol="0" anchor="ctr"/>
          <a:lstStyle/>
          <a:p>
            <a:pPr marL="0" indent="0" algn="ctr">
              <a:buNone/>
            </a:pPr>
            <a:r>
              <a:rPr lang="en-US" sz="1600" dirty="0">
                <a:latin typeface="Lato" panose="020F0502020204030203" pitchFamily="34" charset="0"/>
                <a:ea typeface="Calibri" panose="020F0502020204030204" pitchFamily="34" charset="-122"/>
                <a:cs typeface="Arial" panose="020B0604020202020204" pitchFamily="34" charset="0"/>
              </a:rPr>
              <a:t>[Add description of Demo 1 here — what this demo shows, key features, and results achieved.]</a:t>
            </a: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8688" y="2413802"/>
            <a:ext cx="2788920" cy="411480"/>
          </a:xfrm>
          <a:prstGeom prst="rect">
            <a:avLst/>
          </a:prstGeom>
          <a:noFill/>
        </p:spPr>
        <p:txBody>
          <a:bodyPr wrap="square" rtlCol="0" anchor="ctr"/>
          <a:lstStyle/>
          <a:p>
            <a:pPr marL="0" indent="0" algn="ctr">
              <a:buNone/>
            </a:pPr>
            <a:r>
              <a:rPr lang="en-US" sz="1600" b="1" dirty="0">
                <a:latin typeface="Lato" panose="020F0502020204030203" pitchFamily="34" charset="0"/>
                <a:ea typeface="Calibri" panose="020F0502020204030204" pitchFamily="34" charset="-122"/>
                <a:cs typeface="Arial" panose="020B0604020202020204" pitchFamily="34" charset="0"/>
              </a:rPr>
              <a:t>Demo 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p:spPr>
        <p:txBody>
          <a:bodyPr wrap="square" rtlCol="0" anchor="ctr"/>
          <a:lstStyle/>
          <a:p>
            <a:pPr marL="0" indent="0" algn="ctr">
              <a:buNone/>
            </a:pPr>
            <a:r>
              <a:rPr lang="en-US" sz="1600" dirty="0">
                <a:latin typeface="Lato" panose="020F0502020204030203" pitchFamily="34" charset="0"/>
                <a:ea typeface="Calibri" panose="020F0502020204030204" pitchFamily="34" charset="-122"/>
                <a:cs typeface="Arial" panose="020B0604020202020204" pitchFamily="34" charset="0"/>
              </a:rPr>
              <a:t>[Add description of Demo 2 here — what this demo shows, key features, and results achieved.]</a:t>
            </a: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413802"/>
            <a:ext cx="2788920" cy="411480"/>
          </a:xfrm>
          <a:prstGeom prst="rect">
            <a:avLst/>
          </a:prstGeom>
          <a:noFill/>
        </p:spPr>
        <p:txBody>
          <a:bodyPr wrap="square" rtlCol="0" anchor="ctr"/>
          <a:lstStyle/>
          <a:p>
            <a:pPr marL="0" indent="0" algn="ctr">
              <a:buNone/>
            </a:pPr>
            <a:r>
              <a:rPr lang="en-US" sz="1600" b="1" dirty="0">
                <a:latin typeface="Lato" panose="020F0502020204030203" pitchFamily="34" charset="0"/>
                <a:ea typeface="Calibri" panose="020F0502020204030204"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p:spPr>
        <p:txBody>
          <a:bodyPr wrap="square" rtlCol="0" anchor="ctr"/>
          <a:lstStyle/>
          <a:p>
            <a:pPr marL="0" indent="0" algn="ctr">
              <a:buNone/>
            </a:pPr>
            <a:r>
              <a:rPr lang="en-US" sz="1600" dirty="0">
                <a:latin typeface="Lato" panose="020F0502020204030203" pitchFamily="34" charset="0"/>
                <a:ea typeface="Calibri" panose="020F0502020204030204" pitchFamily="34" charset="-122"/>
                <a:cs typeface="Arial" panose="020B0604020202020204" pitchFamily="34" charset="0"/>
              </a:rPr>
              <a:t>[Add description of Demo 3 here — what this demo shows, key features, and results achieved.]</a:t>
            </a:r>
            <a:endParaRPr lang="en-US" sz="1600"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p:spPr>
        <p:txBody>
          <a:bodyPr wrap="square" rtlCol="0" anchor="ctr"/>
          <a:lstStyle/>
          <a:p>
            <a:pPr marL="0" indent="0">
              <a:buNone/>
            </a:pPr>
            <a:r>
              <a:rPr lang="en-US" sz="2200" b="1" dirty="0">
                <a:solidFill>
                  <a:srgbClr val="1B3A8A"/>
                </a:solidFill>
                <a:latin typeface="Calibri" panose="020F0502020204030204" charset="0"/>
                <a:ea typeface="Calibri" panose="020F0502020204030204" pitchFamily="34" charset="-122"/>
                <a:cs typeface="Calibri" panose="020F0502020204030204"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p:spPr>
        <p:txBody>
          <a:bodyPr/>
          <a:lstStyle/>
          <a:p>
            <a:endParaRPr lang="en-IN"/>
          </a:p>
        </p:txBody>
      </p:sp>
      <p:sp>
        <p:nvSpPr>
          <p:cNvPr id="8" name="Shape 6"/>
          <p:cNvSpPr/>
          <p:nvPr/>
        </p:nvSpPr>
        <p:spPr>
          <a:xfrm>
            <a:off x="502920" y="777240"/>
            <a:ext cx="164592" cy="164592"/>
          </a:xfrm>
          <a:prstGeom prst="ellipse">
            <a:avLst/>
          </a:prstGeom>
          <a:solidFill>
            <a:srgbClr val="FF5F57"/>
          </a:solidFill>
        </p:spPr>
        <p:txBody>
          <a:bodyPr/>
          <a:lstStyle/>
          <a:p>
            <a:endParaRPr lang="en-IN"/>
          </a:p>
        </p:txBody>
      </p:sp>
      <p:sp>
        <p:nvSpPr>
          <p:cNvPr id="9" name="Shape 7"/>
          <p:cNvSpPr/>
          <p:nvPr/>
        </p:nvSpPr>
        <p:spPr>
          <a:xfrm>
            <a:off x="731520" y="777240"/>
            <a:ext cx="164592" cy="164592"/>
          </a:xfrm>
          <a:prstGeom prst="ellipse">
            <a:avLst/>
          </a:prstGeom>
          <a:solidFill>
            <a:srgbClr val="FEBC2E"/>
          </a:solidFill>
        </p:spPr>
        <p:txBody>
          <a:bodyPr/>
          <a:lstStyle/>
          <a:p>
            <a:endParaRPr lang="en-IN"/>
          </a:p>
        </p:txBody>
      </p:sp>
      <p:sp>
        <p:nvSpPr>
          <p:cNvPr id="10" name="Shape 8"/>
          <p:cNvSpPr/>
          <p:nvPr/>
        </p:nvSpPr>
        <p:spPr>
          <a:xfrm>
            <a:off x="960120" y="777240"/>
            <a:ext cx="164592" cy="164592"/>
          </a:xfrm>
          <a:prstGeom prst="ellipse">
            <a:avLst/>
          </a:prstGeom>
          <a:solidFill>
            <a:srgbClr val="28C840"/>
          </a:solidFill>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89888" y="768096"/>
            <a:ext cx="4992624" cy="219456"/>
          </a:xfrm>
          <a:prstGeom prst="rect">
            <a:avLst/>
          </a:prstGeom>
          <a:noFill/>
        </p:spPr>
        <p:txBody>
          <a:bodyPr wrap="square" rtlCol="0" anchor="ctr"/>
          <a:lstStyle/>
          <a:p>
            <a:pPr marL="0" indent="0">
              <a:buNone/>
            </a:pPr>
            <a:r>
              <a:rPr lang="en-US" sz="900" dirty="0">
                <a:solidFill>
                  <a:srgbClr val="607D8B"/>
                </a:solidFill>
                <a:latin typeface="Calibri" panose="020F0502020204030204" charset="0"/>
                <a:ea typeface="Calibri" panose="020F0502020204030204" pitchFamily="34" charset="-122"/>
                <a:cs typeface="Calibri" panose="020F0502020204030204" pitchFamily="34" charset="-120"/>
              </a:rPr>
              <a:t>[https://your-project-demo-link.com]</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p:spPr>
        <p:txBody>
          <a:bodyPr/>
          <a:lstStyle/>
          <a:p>
            <a:endParaRPr lang="en-IN"/>
          </a:p>
        </p:txBody>
      </p:sp>
      <p:sp>
        <p:nvSpPr>
          <p:cNvPr id="14" name="Text 12"/>
          <p:cNvSpPr/>
          <p:nvPr/>
        </p:nvSpPr>
        <p:spPr>
          <a:xfrm>
            <a:off x="3749040" y="1828800"/>
            <a:ext cx="1645920" cy="1645920"/>
          </a:xfrm>
          <a:prstGeom prst="rect">
            <a:avLst/>
          </a:prstGeom>
          <a:noFill/>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p:spPr>
        <p:txBody>
          <a:bodyPr wrap="square" rtlCol="0" anchor="ctr"/>
          <a:lstStyle/>
          <a:p>
            <a:pPr marL="0" indent="0" algn="ctr">
              <a:buNone/>
            </a:pPr>
            <a:r>
              <a:rPr lang="en-US" sz="1100" i="1" dirty="0">
                <a:solidFill>
                  <a:srgbClr val="607D8B"/>
                </a:solidFill>
                <a:latin typeface="Calibri" panose="020F0502020204030204" charset="0"/>
                <a:ea typeface="Calibri" panose="020F0502020204030204" pitchFamily="34" charset="-122"/>
                <a:cs typeface="Calibri" panose="020F0502020204030204" pitchFamily="34" charset="-120"/>
              </a:rPr>
              <a:t>[Insert your project demo video.</a:t>
            </a:r>
            <a:endParaRPr lang="en-US" sz="1100" dirty="0"/>
          </a:p>
          <a:p>
            <a:pPr marL="0" indent="0" algn="ctr">
              <a:buNone/>
            </a:pPr>
            <a:r>
              <a:rPr lang="en-US" sz="1100" i="1" dirty="0">
                <a:solidFill>
                  <a:srgbClr val="607D8B"/>
                </a:solidFill>
                <a:latin typeface="Calibri" panose="020F0502020204030204" charset="0"/>
                <a:ea typeface="Calibri" panose="020F0502020204030204" pitchFamily="34" charset="-122"/>
                <a:cs typeface="Calibri" panose="020F0502020204030204" pitchFamily="34" charset="-120"/>
              </a:rPr>
              <a:t>You can embed a video your live project.]</a:t>
            </a:r>
            <a:endParaRPr lang="en-US" sz="1100"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anose="020F0502020204030204"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4446513" cy="3474720"/>
          </a:xfrm>
          <a:prstGeom prst="rect">
            <a:avLst/>
          </a:prstGeom>
          <a:noFill/>
        </p:spPr>
        <p:txBody>
          <a:bodyPr wrap="square" rtlCol="0" anchor="t"/>
          <a:lstStyle/>
          <a:p>
            <a:pPr marL="0" indent="0">
              <a:buNone/>
            </a:pPr>
            <a:r>
              <a:rPr lang="en-US" dirty="0">
                <a:solidFill>
                  <a:srgbClr val="1A1A2E"/>
                </a:solidFill>
                <a:latin typeface="Lato" panose="020F0502020204030203" pitchFamily="34" charset="0"/>
                <a:ea typeface="Calibri" panose="020F0502020204030204" pitchFamily="34" charset="-122"/>
                <a:cs typeface="Arial" panose="020B0604020202020204" pitchFamily="34" charset="0"/>
              </a:rPr>
              <a:t>[Write your project conclusion here. Summarize what was accomplished, the key results and findings, and the overall impact of your work. Mention whether the objectives were achieved and what value this project adds to the domain.]</a:t>
            </a:r>
            <a:endParaRPr lang="en-US"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anose="020F0502020204030204" pitchFamily="34" charset="-122"/>
                <a:cs typeface="Calibri" panose="020F0502020204030204"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p:cNvPicPr>
            <a:picLocks noChangeAspect="1"/>
          </p:cNvPicPr>
          <p:nvPr/>
        </p:nvPicPr>
        <p:blipFill>
          <a:blip r:embed="rId1">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p:spPr>
        <p:txBody>
          <a:bodyPr wrap="square" rtlCol="0" anchor="ctr"/>
          <a:lstStyle/>
          <a:p>
            <a:pPr marL="0" indent="0">
              <a:buNone/>
            </a:pPr>
            <a:r>
              <a:rPr lang="en-US" sz="2000" b="1" dirty="0">
                <a:solidFill>
                  <a:srgbClr val="1B3A8A"/>
                </a:solidFill>
                <a:latin typeface="Lato" panose="020F0502020204030203" pitchFamily="34" charset="0"/>
                <a:ea typeface="Calibri" panose="020F0502020204030204"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p:spPr>
        <p:txBody>
          <a:bodyPr wrap="square" rtlCol="0" anchor="t"/>
          <a:lstStyle/>
          <a:p>
            <a:pPr marL="0" indent="0">
              <a:buNone/>
            </a:pPr>
            <a:r>
              <a:rPr lang="en-US" dirty="0">
                <a:solidFill>
                  <a:srgbClr val="1A1A2E"/>
                </a:solidFill>
                <a:latin typeface="Lato" panose="020F0502020204030203" pitchFamily="34" charset="0"/>
                <a:ea typeface="Calibri" panose="020F0502020204030204" pitchFamily="34" charset="-122"/>
                <a:cs typeface="Arial" panose="020B0604020202020204" pitchFamily="34" charset="0"/>
              </a:rPr>
              <a:t>[Describe the future enhancements and improvements planned for this project. Mention additional features, scalability plans, integration possibilities, or further research </a:t>
            </a:r>
            <a:r>
              <a:rPr lang="en-US" sz="1600" dirty="0">
                <a:solidFill>
                  <a:srgbClr val="1A1A2E"/>
                </a:solidFill>
                <a:latin typeface="Lato" panose="020F0502020204030203" pitchFamily="34" charset="0"/>
                <a:ea typeface="Calibri" panose="020F0502020204030204" pitchFamily="34" charset="-122"/>
                <a:cs typeface="Arial" panose="020B0604020202020204" pitchFamily="34" charset="0"/>
              </a:rPr>
              <a:t>areas</a:t>
            </a:r>
            <a:r>
              <a:rPr lang="en-US" dirty="0">
                <a:solidFill>
                  <a:srgbClr val="1A1A2E"/>
                </a:solidFill>
                <a:latin typeface="Lato" panose="020F0502020204030203" pitchFamily="34" charset="0"/>
                <a:ea typeface="Calibri" panose="020F0502020204030204" pitchFamily="34" charset="-122"/>
                <a:cs typeface="Arial" panose="020B0604020202020204" pitchFamily="34" charset="0"/>
              </a:rPr>
              <a:t> that can extend the project's impact.]</a:t>
            </a:r>
            <a:endParaRPr lang="en-US" dirty="0">
              <a:latin typeface="Lato" panose="020F0502020204030203" pitchFamily="34" charset="0"/>
              <a:cs typeface="Arial" panose="020B0604020202020204" pitchFamily="34" charset="0"/>
            </a:endParaRPr>
          </a:p>
        </p:txBody>
      </p:sp>
      <p:pic>
        <p:nvPicPr>
          <p:cNvPr id="2"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p:spPr>
        <p:txBody>
          <a:bodyPr wrap="square" rtlCol="0" anchor="ctr"/>
          <a:lstStyle/>
          <a:p>
            <a:pPr marL="0" indent="0" algn="ctr">
              <a:buNone/>
            </a:pPr>
            <a:r>
              <a:rPr lang="en-US" sz="1400" kern="0" spc="200" dirty="0">
                <a:latin typeface="Lato" panose="020F0502020204030203" pitchFamily="34" charset="0"/>
                <a:ea typeface="Calibri" panose="020F0502020204030204"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p:spPr>
        <p:txBody>
          <a:bodyPr wrap="square" lIns="91440" tIns="45720" rIns="91440" bIns="45720" rtlCol="0" anchor="ctr"/>
          <a:lstStyle/>
          <a:p>
            <a:pPr marL="0" indent="0" algn="ctr">
              <a:buNone/>
            </a:pPr>
            <a:r>
              <a:rPr lang="en-US" sz="1100" dirty="0">
                <a:latin typeface="Lato" panose="020F0502020204030203" pitchFamily="34" charset="0"/>
                <a:ea typeface="Calibri" panose="020F0502020204030204"/>
                <a:cs typeface="Arial" panose="020B0604020202020204" pitchFamily="34" charset="0"/>
              </a:rPr>
              <a:t>  LinkedIn  |   </a:t>
            </a:r>
            <a:r>
              <a:rPr lang="en-US" sz="1100" dirty="0" err="1">
                <a:latin typeface="Lato" panose="020F0502020204030203" pitchFamily="34" charset="0"/>
                <a:ea typeface="Calibri" panose="020F0502020204030204"/>
                <a:cs typeface="Arial" panose="020B0604020202020204" pitchFamily="34" charset="0"/>
              </a:rPr>
              <a:t>Edunet</a:t>
            </a:r>
            <a:r>
              <a:rPr lang="en-US" sz="1100" dirty="0">
                <a:latin typeface="Lato" panose="020F0502020204030203" pitchFamily="34" charset="0"/>
                <a:ea typeface="Calibri" panose="020F0502020204030204"/>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p:cNvSpPr txBox="1"/>
          <p:nvPr/>
        </p:nvSpPr>
        <p:spPr>
          <a:xfrm>
            <a:off x="2632982" y="1705295"/>
            <a:ext cx="3878036" cy="1175065"/>
          </a:xfrm>
          <a:prstGeom prst="rect">
            <a:avLst/>
          </a:prstGeom>
        </p:spPr>
        <p:txBody>
          <a:bodyPr wrap="square" lIns="0" tIns="0" rIns="0" bIns="0" rtlCol="0" anchor="t">
            <a:spAutoFit/>
          </a:bodyPr>
          <a:lstStyle/>
          <a:p>
            <a:pPr algn="ctr">
              <a:lnSpc>
                <a:spcPts val="10685"/>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endParaRPr lang="en-US" sz="5000" b="1" dirty="0">
              <a:solidFill>
                <a:srgbClr val="0D358D"/>
              </a:solidFill>
              <a:latin typeface="Lato" panose="020F0502020204030203" pitchFamily="34" charset="0"/>
              <a:ea typeface="Aileron Ultra-Bold"/>
              <a:cs typeface="Arial" panose="020B0604020202020204" pitchFamily="34" charset="0"/>
              <a:sym typeface="Aileron Ultra-Bold"/>
            </a:endParaRPr>
          </a:p>
        </p:txBody>
      </p:sp>
    </p:spTree>
    <p:custDataLst>
      <p:tags r:id="rId1"/>
    </p:custDataLst>
  </p:cSld>
  <p:clrMapOvr>
    <a:masterClrMapping/>
  </p:clrMapOvr>
</p:sld>
</file>

<file path=ppt/tags/tag1.xml><?xml version="1.0" encoding="utf-8"?>
<p:tagLst xmlns:p="http://schemas.openxmlformats.org/presentationml/2006/main">
  <p:tag name="ARTICULATE_SLIDE_THUMBNAIL_REFRESH" val="1"/>
</p:tagLst>
</file>

<file path=ppt/tags/tag2.xml><?xml version="1.0" encoding="utf-8"?>
<p:tagLst xmlns:p="http://schemas.openxmlformats.org/presentationml/2006/main">
  <p:tag name="ARTICULATE_SLIDE_THUMBNAIL_REFRESH" val="1"/>
</p:tagLst>
</file>

<file path=ppt/tags/tag3.xml><?xml version="1.0" encoding="utf-8"?>
<p:tagLst xmlns:p="http://schemas.openxmlformats.org/presentationml/2006/main">
  <p:tag name="ARTICULATE_SLIDE_THUMBNAIL_REFRESH" val="1"/>
</p:tagLst>
</file>

<file path=ppt/tags/tag4.xml><?xml version="1.0" encoding="utf-8"?>
<p:tagLst xmlns:p="http://schemas.openxmlformats.org/presentationml/2006/main">
  <p:tag name="ARTICULATE_SLIDE_THUMBNAIL_REFRESH" val="1"/>
</p:tagLst>
</file>

<file path=ppt/tags/tag5.xml><?xml version="1.0" encoding="utf-8"?>
<p:tagLst xmlns:p="http://schemas.openxmlformats.org/presentationml/2006/main">
  <p:tag name="ARTICULATE_SLIDE_THUMBNAIL_REFRESH" val="1"/>
</p:tagLst>
</file>

<file path=ppt/tags/tag6.xml><?xml version="1.0" encoding="utf-8"?>
<p:tagLst xmlns:p="http://schemas.openxmlformats.org/presentationml/2006/main">
  <p:tag name="ARTICULATE_SLIDE_THUMBNAIL_REFRESH" val="1"/>
</p:tagLst>
</file>

<file path=ppt/tags/tag7.xml><?xml version="1.0" encoding="utf-8"?>
<p:tagLst xmlns:p="http://schemas.openxmlformats.org/presentationml/2006/main">
  <p:tag name="KSO_WM_DIAGRAM_VIRTUALLY_FRAME" val="{&quot;height&quot;:265.55716535433066,&quot;left&quot;:18.536062992125984,&quot;top&quot;:97.88976377952756,&quot;width&quot;:684}"/>
</p:tagLst>
</file>

<file path=ppt/tags/tag8.xml><?xml version="1.0" encoding="utf-8"?>
<p:tagLst xmlns:p="http://schemas.openxmlformats.org/presentationml/2006/main">
  <p:tag name="KSO_WM_DIAGRAM_VIRTUALLY_FRAME" val="{&quot;height&quot;:265.55716535433066,&quot;left&quot;:18.536062992125984,&quot;top&quot;:97.88976377952756,&quot;width&quot;:684}"/>
</p:tagLst>
</file>

<file path=ppt/tags/tag9.xml><?xml version="1.0" encoding="utf-8"?>
<p:tagLst xmlns:p="http://schemas.openxmlformats.org/presentationml/2006/main">
  <p:tag name="KSO_WM_DIAGRAM_VIRTUALLY_FRAME" val="{&quot;height&quot;:265.55716535433066,&quot;left&quot;:18.536062992125984,&quot;top&quot;:97.88976377952756,&quot;width&quot;:684}"/>
</p:tagLst>
</file>

<file path=ppt/tags/tag10.xml><?xml version="1.0" encoding="utf-8"?>
<p:tagLst xmlns:p="http://schemas.openxmlformats.org/presentationml/2006/main">
  <p:tag name="KSO_WM_DIAGRAM_VIRTUALLY_FRAME" val="{&quot;height&quot;:265.55716535433066,&quot;left&quot;:18.536062992125984,&quot;top&quot;:97.88976377952756,&quot;width&quot;:684}"/>
</p:tagLst>
</file>

<file path=ppt/tags/tag11.xml><?xml version="1.0" encoding="utf-8"?>
<p:tagLst xmlns:p="http://schemas.openxmlformats.org/presentationml/2006/main">
  <p:tag name="KSO_WM_DIAGRAM_VIRTUALLY_FRAME" val="{&quot;height&quot;:265.55716535433066,&quot;left&quot;:18.536062992125984,&quot;top&quot;:97.88976377952756,&quot;width&quot;:684}"/>
</p:tagLst>
</file>

<file path=ppt/tags/tag12.xml><?xml version="1.0" encoding="utf-8"?>
<p:tagLst xmlns:p="http://schemas.openxmlformats.org/presentationml/2006/main">
  <p:tag name="KSO_WM_DIAGRAM_VIRTUALLY_FRAME" val="{&quot;height&quot;:265.55716535433066,&quot;left&quot;:18.536062992125984,&quot;top&quot;:97.88976377952756,&quot;width&quot;:684}"/>
</p:tagLst>
</file>

<file path=ppt/tags/tag13.xml><?xml version="1.0" encoding="utf-8"?>
<p:tagLst xmlns:p="http://schemas.openxmlformats.org/presentationml/2006/main">
  <p:tag name="KSO_WM_DIAGRAM_VIRTUALLY_FRAME" val="{&quot;height&quot;:265.55716535433066,&quot;left&quot;:18.536062992125984,&quot;top&quot;:97.88976377952756,&quot;width&quot;:684}"/>
</p:tagLst>
</file>

<file path=ppt/tags/tag14.xml><?xml version="1.0" encoding="utf-8"?>
<p:tagLst xmlns:p="http://schemas.openxmlformats.org/presentationml/2006/main">
  <p:tag name="KSO_WM_DIAGRAM_VIRTUALLY_FRAME" val="{&quot;height&quot;:265.55716535433066,&quot;left&quot;:18.536062992125984,&quot;top&quot;:97.88976377952756,&quot;width&quot;:684}"/>
</p:tagLst>
</file>

<file path=ppt/tags/tag15.xml><?xml version="1.0" encoding="utf-8"?>
<p:tagLst xmlns:p="http://schemas.openxmlformats.org/presentationml/2006/main">
  <p:tag name="KSO_WM_DIAGRAM_VIRTUALLY_FRAME" val="{&quot;height&quot;:265.55716535433066,&quot;left&quot;:18.536062992125984,&quot;top&quot;:97.88976377952756,&quot;width&quot;:684}"/>
</p:tagLst>
</file>

<file path=ppt/tags/tag16.xml><?xml version="1.0" encoding="utf-8"?>
<p:tagLst xmlns:p="http://schemas.openxmlformats.org/presentationml/2006/main">
  <p:tag name="KSO_WM_DIAGRAM_VIRTUALLY_FRAME" val="{&quot;height&quot;:265.55716535433066,&quot;left&quot;:18.536062992125984,&quot;top&quot;:97.88976377952756,&quot;width&quot;:684}"/>
</p:tagLst>
</file>

<file path=ppt/tags/tag17.xml><?xml version="1.0" encoding="utf-8"?>
<p:tagLst xmlns:p="http://schemas.openxmlformats.org/presentationml/2006/main">
  <p:tag name="KSO_WM_DIAGRAM_VIRTUALLY_FRAME" val="{&quot;height&quot;:265.55716535433066,&quot;left&quot;:18.536062992125984,&quot;top&quot;:97.88976377952756,&quot;width&quot;:684}"/>
</p:tagLst>
</file>

<file path=ppt/tags/tag18.xml><?xml version="1.0" encoding="utf-8"?>
<p:tagLst xmlns:p="http://schemas.openxmlformats.org/presentationml/2006/main">
  <p:tag name="KSO_WM_DIAGRAM_VIRTUALLY_FRAME" val="{&quot;height&quot;:265.55716535433066,&quot;left&quot;:18.536062992125984,&quot;top&quot;:97.88976377952756,&quot;width&quot;:684}"/>
</p:tagLst>
</file>

<file path=ppt/tags/tag19.xml><?xml version="1.0" encoding="utf-8"?>
<p:tagLst xmlns:p="http://schemas.openxmlformats.org/presentationml/2006/main">
  <p:tag name="KSO_WM_DIAGRAM_VIRTUALLY_FRAME" val="{&quot;height&quot;:265.55716535433066,&quot;left&quot;:18.536062992125984,&quot;top&quot;:97.88976377952756,&quot;width&quot;:684}"/>
</p:tagLst>
</file>

<file path=ppt/tags/tag20.xml><?xml version="1.0" encoding="utf-8"?>
<p:tagLst xmlns:p="http://schemas.openxmlformats.org/presentationml/2006/main">
  <p:tag name="KSO_WM_DIAGRAM_VIRTUALLY_FRAME" val="{&quot;height&quot;:265.55716535433066,&quot;left&quot;:18.536062992125984,&quot;top&quot;:97.88976377952756,&quot;width&quot;:684}"/>
</p:tagLst>
</file>

<file path=ppt/tags/tag21.xml><?xml version="1.0" encoding="utf-8"?>
<p:tagLst xmlns:p="http://schemas.openxmlformats.org/presentationml/2006/main">
  <p:tag name="KSO_WM_DIAGRAM_VIRTUALLY_FRAME" val="{&quot;height&quot;:265.55716535433066,&quot;left&quot;:18.536062992125984,&quot;top&quot;:97.88976377952756,&quot;width&quot;:684}"/>
</p:tagLst>
</file>

<file path=ppt/tags/tag22.xml><?xml version="1.0" encoding="utf-8"?>
<p:tagLst xmlns:p="http://schemas.openxmlformats.org/presentationml/2006/main">
  <p:tag name="KSO_WM_DIAGRAM_VIRTUALLY_FRAME" val="{&quot;height&quot;:265.55716535433066,&quot;left&quot;:18.536062992125984,&quot;top&quot;:97.88976377952756,&quot;width&quot;:684}"/>
</p:tagLst>
</file>

<file path=ppt/tags/tag23.xml><?xml version="1.0" encoding="utf-8"?>
<p:tagLst xmlns:p="http://schemas.openxmlformats.org/presentationml/2006/main">
  <p:tag name="ARTICULATE_SLIDE_THUMBNAIL_REFRESH" val="1"/>
</p:tagLst>
</file>

<file path=ppt/tags/tag24.xml><?xml version="1.0" encoding="utf-8"?>
<p:tagLst xmlns:p="http://schemas.openxmlformats.org/presentationml/2006/main">
  <p:tag name="ARTICULATE_SLIDE_THUMBNAIL_REFRESH" val="1"/>
</p:tagLst>
</file>

<file path=ppt/tags/tag25.xml><?xml version="1.0" encoding="utf-8"?>
<p:tagLst xmlns:p="http://schemas.openxmlformats.org/presentationml/2006/main">
  <p:tag name="ARTICULATE_SLIDE_THUMBNAIL_REFRESH" val="1"/>
</p:tagLst>
</file>

<file path=ppt/tags/tag26.xml><?xml version="1.0" encoding="utf-8"?>
<p:tagLst xmlns:p="http://schemas.openxmlformats.org/presentationml/2006/main">
  <p:tag name="ARTICULATE_SLIDE_THUMBNAIL_REFRESH" val="1"/>
</p:tagLst>
</file>

<file path=ppt/tags/tag27.xml><?xml version="1.0" encoding="utf-8"?>
<p:tagLst xmlns:p="http://schemas.openxmlformats.org/presentationml/2006/main">
  <p:tag name="ARTICULATE_SLIDE_THUMBNAIL_REFRESH" val="1"/>
</p:tagLst>
</file>

<file path=ppt/tags/tag28.xml><?xml version="1.0" encoding="utf-8"?>
<p:tagLst xmlns:p="http://schemas.openxmlformats.org/presentationml/2006/main">
  <p:tag name="ARTICULATE_SLIDE_THUMBNAIL_REFRESH" val="1"/>
</p:tagLst>
</file>

<file path=ppt/tags/tag29.xml><?xml version="1.0" encoding="utf-8"?>
<p:tagLst xmlns:p="http://schemas.openxmlformats.org/presentationml/2006/main">
  <p:tag name="ARTICULATE_DESIGN_ID_OFFICE THEME" val="ROGxgyxs"/>
  <p:tag name="ARTICULATE_PROJECT_OPEN" val="0"/>
  <p:tag name="ARTICULATE_SLIDE_COUNT" val="1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4002</Words>
  <Application>WPS Presentation</Application>
  <PresentationFormat>On-screen Show (16:9)</PresentationFormat>
  <Paragraphs>108</Paragraphs>
  <Slides>11</Slides>
  <Notes>11</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11</vt:i4>
      </vt:variant>
    </vt:vector>
  </HeadingPairs>
  <TitlesOfParts>
    <vt:vector size="29" baseType="lpstr">
      <vt:lpstr>Arial</vt:lpstr>
      <vt:lpstr>SimSun</vt:lpstr>
      <vt:lpstr>Wingdings</vt:lpstr>
      <vt:lpstr>Aileron Bold</vt:lpstr>
      <vt:lpstr>Segoe Print</vt:lpstr>
      <vt:lpstr>Aileron</vt:lpstr>
      <vt:lpstr>Lato</vt:lpstr>
      <vt:lpstr>Calibri</vt:lpstr>
      <vt:lpstr>Calibri</vt:lpstr>
      <vt:lpstr>Times New Roman</vt:lpstr>
      <vt:lpstr>Open Sans</vt:lpstr>
      <vt:lpstr>Calibri</vt:lpstr>
      <vt:lpstr>Calibri</vt:lpstr>
      <vt:lpstr>Aileron Ultra-Bold</vt:lpstr>
      <vt:lpstr>Microsoft YaHei</vt:lpstr>
      <vt:lpstr>Arial Unicode MS</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creator>PptxGenJS</dc:creator>
  <dc:subject>PptxGenJS Presentation</dc:subject>
  <cp:lastModifiedBy>DrSabrina D'Souza</cp:lastModifiedBy>
  <cp:revision>35</cp:revision>
  <dcterms:created xsi:type="dcterms:W3CDTF">2026-02-18T09:17:00Z</dcterms:created>
  <dcterms:modified xsi:type="dcterms:W3CDTF">2026-04-17T12:25:29Z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y fmtid="{D5CDD505-2E9C-101B-9397-08002B2CF9AE}" pid="4" name="ICV">
    <vt:lpwstr>6FB26565066F494CA924D9B9BE71CDF4_13</vt:lpwstr>
  </property>
  <property fmtid="{D5CDD505-2E9C-101B-9397-08002B2CF9AE}" pid="5" name="KSOProductBuildVer">
    <vt:lpwstr>1033-12.2.0.23196</vt:lpwstr>
  </property>
</Properties>
</file>